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9753600" cy="7315200"/>
  <p:notesSz cx="6858000" cy="9144000"/>
  <p:embeddedFontLst>
    <p:embeddedFont>
      <p:font typeface="Times New Roman Bold" charset="1" panose="02020803070505020304"/>
      <p:regular r:id="rId20"/>
    </p:embeddedFont>
    <p:embeddedFont>
      <p:font typeface="Times New Roman" charset="1" panose="02020603050405020304"/>
      <p:regular r:id="rId21"/>
    </p:embeddedFont>
    <p:embeddedFont>
      <p:font typeface="Calibri (MS)" charset="1" panose="020F0502020204030204"/>
      <p:regular r:id="rId23"/>
    </p:embeddedFont>
    <p:embeddedFont>
      <p:font typeface="Calibri (MS) Bold" charset="1" panose="020F0702030404030204"/>
      <p:regular r:id="rId25"/>
    </p:embeddedFont>
    <p:embeddedFont>
      <p:font typeface="Literata Bold" charset="1" panose="00000000000000000000"/>
      <p:regular r:id="rId30"/>
    </p:embeddedFont>
    <p:embeddedFont>
      <p:font typeface="Open Sauce" charset="1" panose="000005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219" cy="893569"/>
            <a:chOff x="0" y="0"/>
            <a:chExt cx="13004292" cy="1191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292" cy="1191387"/>
            </a:xfrm>
            <a:custGeom>
              <a:avLst/>
              <a:gdLst/>
              <a:ahLst/>
              <a:cxnLst/>
              <a:rect r="r" b="b" t="t" l="l"/>
              <a:pathLst>
                <a:path h="1191387" w="13004292">
                  <a:moveTo>
                    <a:pt x="0" y="0"/>
                  </a:moveTo>
                  <a:lnTo>
                    <a:pt x="13004292" y="0"/>
                  </a:lnTo>
                  <a:lnTo>
                    <a:pt x="13004292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0" y="7151618"/>
            <a:ext cx="9753219" cy="210817"/>
            <a:chOff x="0" y="0"/>
            <a:chExt cx="13004292" cy="2810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004292" cy="281051"/>
            </a:xfrm>
            <a:custGeom>
              <a:avLst/>
              <a:gdLst/>
              <a:ahLst/>
              <a:cxnLst/>
              <a:rect r="r" b="b" t="t" l="l"/>
              <a:pathLst>
                <a:path h="281051" w="13004292">
                  <a:moveTo>
                    <a:pt x="13004292" y="0"/>
                  </a:moveTo>
                  <a:lnTo>
                    <a:pt x="0" y="0"/>
                  </a:lnTo>
                  <a:lnTo>
                    <a:pt x="0" y="281051"/>
                  </a:lnTo>
                  <a:lnTo>
                    <a:pt x="13004292" y="281051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7" id="7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9" id="9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556419" y="0"/>
            <a:ext cx="3196800" cy="893569"/>
            <a:chOff x="0" y="0"/>
            <a:chExt cx="4262399" cy="11914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62374" cy="1191387"/>
            </a:xfrm>
            <a:custGeom>
              <a:avLst/>
              <a:gdLst/>
              <a:ahLst/>
              <a:cxnLst/>
              <a:rect r="r" b="b" t="t" l="l"/>
              <a:pathLst>
                <a:path h="1191387" w="4262374">
                  <a:moveTo>
                    <a:pt x="0" y="0"/>
                  </a:moveTo>
                  <a:lnTo>
                    <a:pt x="4262374" y="0"/>
                  </a:lnTo>
                  <a:lnTo>
                    <a:pt x="4262374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13" id="13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963070" y="203140"/>
            <a:ext cx="2214524" cy="731139"/>
            <a:chOff x="0" y="0"/>
            <a:chExt cx="2952699" cy="9748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52750" cy="974852"/>
            </a:xfrm>
            <a:custGeom>
              <a:avLst/>
              <a:gdLst/>
              <a:ahLst/>
              <a:cxnLst/>
              <a:rect r="r" b="b" t="t" l="l"/>
              <a:pathLst>
                <a:path h="974852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974852"/>
                  </a:lnTo>
                  <a:lnTo>
                    <a:pt x="0" y="9748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989950" y="243840"/>
            <a:ext cx="2048637" cy="649729"/>
            <a:chOff x="0" y="0"/>
            <a:chExt cx="2731516" cy="866305"/>
          </a:xfrm>
        </p:grpSpPr>
        <p:sp>
          <p:nvSpPr>
            <p:cNvPr name="Freeform 17" id="17" descr="logo.jpg"/>
            <p:cNvSpPr/>
            <p:nvPr/>
          </p:nvSpPr>
          <p:spPr>
            <a:xfrm flipH="false" flipV="false" rot="0">
              <a:off x="0" y="0"/>
              <a:ext cx="2731516" cy="866267"/>
            </a:xfrm>
            <a:custGeom>
              <a:avLst/>
              <a:gdLst/>
              <a:ahLst/>
              <a:cxnLst/>
              <a:rect r="r" b="b" t="t" l="l"/>
              <a:pathLst>
                <a:path h="866267" w="2731516">
                  <a:moveTo>
                    <a:pt x="0" y="0"/>
                  </a:moveTo>
                  <a:lnTo>
                    <a:pt x="2731516" y="0"/>
                  </a:lnTo>
                  <a:lnTo>
                    <a:pt x="2731516" y="866267"/>
                  </a:lnTo>
                  <a:lnTo>
                    <a:pt x="0" y="866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7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19" id="19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556419" y="0"/>
            <a:ext cx="3196800" cy="893569"/>
            <a:chOff x="0" y="0"/>
            <a:chExt cx="4262399" cy="11914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62374" cy="1191387"/>
            </a:xfrm>
            <a:custGeom>
              <a:avLst/>
              <a:gdLst/>
              <a:ahLst/>
              <a:cxnLst/>
              <a:rect r="r" b="b" t="t" l="l"/>
              <a:pathLst>
                <a:path h="1191387" w="4262374">
                  <a:moveTo>
                    <a:pt x="0" y="0"/>
                  </a:moveTo>
                  <a:lnTo>
                    <a:pt x="4262374" y="0"/>
                  </a:lnTo>
                  <a:lnTo>
                    <a:pt x="4262374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23" id="23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963070" y="203140"/>
            <a:ext cx="2214524" cy="731139"/>
            <a:chOff x="0" y="0"/>
            <a:chExt cx="2952699" cy="9748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52750" cy="974852"/>
            </a:xfrm>
            <a:custGeom>
              <a:avLst/>
              <a:gdLst/>
              <a:ahLst/>
              <a:cxnLst/>
              <a:rect r="r" b="b" t="t" l="l"/>
              <a:pathLst>
                <a:path h="974852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974852"/>
                  </a:lnTo>
                  <a:lnTo>
                    <a:pt x="0" y="9748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989950" y="243840"/>
            <a:ext cx="2048637" cy="649729"/>
            <a:chOff x="0" y="0"/>
            <a:chExt cx="2731516" cy="866305"/>
          </a:xfrm>
        </p:grpSpPr>
        <p:sp>
          <p:nvSpPr>
            <p:cNvPr name="Freeform 27" id="27" descr="logo.jpg"/>
            <p:cNvSpPr/>
            <p:nvPr/>
          </p:nvSpPr>
          <p:spPr>
            <a:xfrm flipH="false" flipV="false" rot="0">
              <a:off x="0" y="0"/>
              <a:ext cx="2731516" cy="866267"/>
            </a:xfrm>
            <a:custGeom>
              <a:avLst/>
              <a:gdLst/>
              <a:ahLst/>
              <a:cxnLst/>
              <a:rect r="r" b="b" t="t" l="l"/>
              <a:pathLst>
                <a:path h="866267" w="2731516">
                  <a:moveTo>
                    <a:pt x="0" y="0"/>
                  </a:moveTo>
                  <a:lnTo>
                    <a:pt x="2731516" y="0"/>
                  </a:lnTo>
                  <a:lnTo>
                    <a:pt x="2731516" y="866267"/>
                  </a:lnTo>
                  <a:lnTo>
                    <a:pt x="0" y="866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7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1421" y="1194254"/>
            <a:ext cx="9570749" cy="5663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4"/>
              </a:lnSpc>
            </a:pPr>
            <a:r>
              <a:rPr lang="en-US" b="true" sz="192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Presentation of CO-OP Project at Industry (Module-2) (22CS421)</a:t>
            </a:r>
          </a:p>
          <a:p>
            <a:pPr algn="ctr">
              <a:lnSpc>
                <a:spcPts val="2560"/>
              </a:lnSpc>
            </a:pPr>
            <a:r>
              <a:rPr lang="en-US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</a:p>
          <a:p>
            <a:pPr algn="ctr">
              <a:lnSpc>
                <a:spcPts val="6143"/>
              </a:lnSpc>
            </a:pPr>
            <a:r>
              <a:rPr lang="en-US" sz="511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Sponsored Search and User Attention</a:t>
            </a:r>
          </a:p>
          <a:p>
            <a:pPr algn="ctr">
              <a:lnSpc>
                <a:spcPts val="2560"/>
              </a:lnSpc>
            </a:pPr>
          </a:p>
          <a:p>
            <a:pPr algn="ctr">
              <a:lnSpc>
                <a:spcPts val="2560"/>
              </a:lnSpc>
            </a:pPr>
            <a:r>
              <a:rPr lang="en-US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Jashan Jot Kaur Gill, Manav Gupta, Tarun Bhardwaj</a:t>
            </a:r>
          </a:p>
          <a:p>
            <a:pPr algn="ctr">
              <a:lnSpc>
                <a:spcPts val="2560"/>
              </a:lnSpc>
            </a:pPr>
            <a:r>
              <a:rPr lang="en-US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2210990436, 2210991878, 2210992457</a:t>
            </a:r>
          </a:p>
          <a:p>
            <a:pPr algn="ctr">
              <a:lnSpc>
                <a:spcPts val="1791"/>
              </a:lnSpc>
            </a:pPr>
          </a:p>
          <a:p>
            <a:pPr algn="ctr">
              <a:lnSpc>
                <a:spcPts val="2560"/>
              </a:lnSpc>
            </a:pPr>
            <a:r>
              <a:rPr lang="en-US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</a:p>
          <a:p>
            <a:pPr algn="ctr">
              <a:lnSpc>
                <a:spcPts val="2560"/>
              </a:lnSpc>
            </a:pPr>
            <a:r>
              <a:rPr lang="en-US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Rajat Takkar</a:t>
            </a:r>
          </a:p>
          <a:p>
            <a:pPr algn="l">
              <a:lnSpc>
                <a:spcPts val="1791"/>
              </a:lnSpc>
            </a:pPr>
          </a:p>
          <a:p>
            <a:pPr algn="ctr">
              <a:lnSpc>
                <a:spcPts val="3071"/>
              </a:lnSpc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</a:p>
          <a:p>
            <a:pPr algn="ctr">
              <a:lnSpc>
                <a:spcPts val="3071"/>
              </a:lnSpc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</a:p>
          <a:p>
            <a:pPr algn="ctr">
              <a:lnSpc>
                <a:spcPts val="2687"/>
              </a:lnSpc>
            </a:pPr>
          </a:p>
          <a:p>
            <a:pPr algn="l">
              <a:lnSpc>
                <a:spcPts val="1791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219" cy="893569"/>
            <a:chOff x="0" y="0"/>
            <a:chExt cx="13004292" cy="1191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292" cy="1191387"/>
            </a:xfrm>
            <a:custGeom>
              <a:avLst/>
              <a:gdLst/>
              <a:ahLst/>
              <a:cxnLst/>
              <a:rect r="r" b="b" t="t" l="l"/>
              <a:pathLst>
                <a:path h="1191387" w="13004292">
                  <a:moveTo>
                    <a:pt x="0" y="0"/>
                  </a:moveTo>
                  <a:lnTo>
                    <a:pt x="13004292" y="0"/>
                  </a:lnTo>
                  <a:lnTo>
                    <a:pt x="13004292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0" y="7151618"/>
            <a:ext cx="9753219" cy="210817"/>
            <a:chOff x="0" y="0"/>
            <a:chExt cx="13004292" cy="2810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004292" cy="281051"/>
            </a:xfrm>
            <a:custGeom>
              <a:avLst/>
              <a:gdLst/>
              <a:ahLst/>
              <a:cxnLst/>
              <a:rect r="r" b="b" t="t" l="l"/>
              <a:pathLst>
                <a:path h="281051" w="13004292">
                  <a:moveTo>
                    <a:pt x="13004292" y="0"/>
                  </a:moveTo>
                  <a:lnTo>
                    <a:pt x="0" y="0"/>
                  </a:lnTo>
                  <a:lnTo>
                    <a:pt x="0" y="281051"/>
                  </a:lnTo>
                  <a:lnTo>
                    <a:pt x="13004292" y="281051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7" id="7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9" id="9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556419" y="0"/>
            <a:ext cx="3196800" cy="893569"/>
            <a:chOff x="0" y="0"/>
            <a:chExt cx="4262399" cy="11914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62374" cy="1191387"/>
            </a:xfrm>
            <a:custGeom>
              <a:avLst/>
              <a:gdLst/>
              <a:ahLst/>
              <a:cxnLst/>
              <a:rect r="r" b="b" t="t" l="l"/>
              <a:pathLst>
                <a:path h="1191387" w="4262374">
                  <a:moveTo>
                    <a:pt x="0" y="0"/>
                  </a:moveTo>
                  <a:lnTo>
                    <a:pt x="4262374" y="0"/>
                  </a:lnTo>
                  <a:lnTo>
                    <a:pt x="4262374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13" id="13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963070" y="203140"/>
            <a:ext cx="2214524" cy="731139"/>
            <a:chOff x="0" y="0"/>
            <a:chExt cx="2952699" cy="9748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52750" cy="974852"/>
            </a:xfrm>
            <a:custGeom>
              <a:avLst/>
              <a:gdLst/>
              <a:ahLst/>
              <a:cxnLst/>
              <a:rect r="r" b="b" t="t" l="l"/>
              <a:pathLst>
                <a:path h="974852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974852"/>
                  </a:lnTo>
                  <a:lnTo>
                    <a:pt x="0" y="9748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989950" y="243840"/>
            <a:ext cx="2048637" cy="649729"/>
            <a:chOff x="0" y="0"/>
            <a:chExt cx="2731516" cy="866305"/>
          </a:xfrm>
        </p:grpSpPr>
        <p:sp>
          <p:nvSpPr>
            <p:cNvPr name="Freeform 17" id="17" descr="logo.jpg"/>
            <p:cNvSpPr/>
            <p:nvPr/>
          </p:nvSpPr>
          <p:spPr>
            <a:xfrm flipH="false" flipV="false" rot="0">
              <a:off x="0" y="0"/>
              <a:ext cx="2731516" cy="866267"/>
            </a:xfrm>
            <a:custGeom>
              <a:avLst/>
              <a:gdLst/>
              <a:ahLst/>
              <a:cxnLst/>
              <a:rect r="r" b="b" t="t" l="l"/>
              <a:pathLst>
                <a:path h="866267" w="2731516">
                  <a:moveTo>
                    <a:pt x="0" y="0"/>
                  </a:moveTo>
                  <a:lnTo>
                    <a:pt x="2731516" y="0"/>
                  </a:lnTo>
                  <a:lnTo>
                    <a:pt x="2731516" y="866267"/>
                  </a:lnTo>
                  <a:lnTo>
                    <a:pt x="0" y="866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7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19" id="19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556419" y="0"/>
            <a:ext cx="3196800" cy="893569"/>
            <a:chOff x="0" y="0"/>
            <a:chExt cx="4262399" cy="11914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62374" cy="1191387"/>
            </a:xfrm>
            <a:custGeom>
              <a:avLst/>
              <a:gdLst/>
              <a:ahLst/>
              <a:cxnLst/>
              <a:rect r="r" b="b" t="t" l="l"/>
              <a:pathLst>
                <a:path h="1191387" w="4262374">
                  <a:moveTo>
                    <a:pt x="0" y="0"/>
                  </a:moveTo>
                  <a:lnTo>
                    <a:pt x="4262374" y="0"/>
                  </a:lnTo>
                  <a:lnTo>
                    <a:pt x="4262374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23" id="23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963070" y="203140"/>
            <a:ext cx="2214524" cy="731139"/>
            <a:chOff x="0" y="0"/>
            <a:chExt cx="2952699" cy="9748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52750" cy="974852"/>
            </a:xfrm>
            <a:custGeom>
              <a:avLst/>
              <a:gdLst/>
              <a:ahLst/>
              <a:cxnLst/>
              <a:rect r="r" b="b" t="t" l="l"/>
              <a:pathLst>
                <a:path h="974852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974852"/>
                  </a:lnTo>
                  <a:lnTo>
                    <a:pt x="0" y="9748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989950" y="243840"/>
            <a:ext cx="2048637" cy="649729"/>
            <a:chOff x="0" y="0"/>
            <a:chExt cx="2731516" cy="866305"/>
          </a:xfrm>
        </p:grpSpPr>
        <p:sp>
          <p:nvSpPr>
            <p:cNvPr name="Freeform 27" id="27" descr="logo.jpg"/>
            <p:cNvSpPr/>
            <p:nvPr/>
          </p:nvSpPr>
          <p:spPr>
            <a:xfrm flipH="false" flipV="false" rot="0">
              <a:off x="0" y="0"/>
              <a:ext cx="2731516" cy="866267"/>
            </a:xfrm>
            <a:custGeom>
              <a:avLst/>
              <a:gdLst/>
              <a:ahLst/>
              <a:cxnLst/>
              <a:rect r="r" b="b" t="t" l="l"/>
              <a:pathLst>
                <a:path h="866267" w="2731516">
                  <a:moveTo>
                    <a:pt x="0" y="0"/>
                  </a:moveTo>
                  <a:lnTo>
                    <a:pt x="2731516" y="0"/>
                  </a:lnTo>
                  <a:lnTo>
                    <a:pt x="2731516" y="866267"/>
                  </a:lnTo>
                  <a:lnTo>
                    <a:pt x="0" y="866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7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05700" y="1004247"/>
            <a:ext cx="3890196" cy="893568"/>
            <a:chOff x="0" y="0"/>
            <a:chExt cx="5186928" cy="119142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186933" cy="1191423"/>
            </a:xfrm>
            <a:custGeom>
              <a:avLst/>
              <a:gdLst/>
              <a:ahLst/>
              <a:cxnLst/>
              <a:rect r="r" b="b" t="t" l="l"/>
              <a:pathLst>
                <a:path h="1191423" w="5186933">
                  <a:moveTo>
                    <a:pt x="0" y="0"/>
                  </a:moveTo>
                  <a:lnTo>
                    <a:pt x="5186933" y="0"/>
                  </a:lnTo>
                  <a:lnTo>
                    <a:pt x="5186933" y="1191423"/>
                  </a:lnTo>
                  <a:lnTo>
                    <a:pt x="0" y="119142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0012" r="-65052" b="-9001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5186928" cy="121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Objective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989950" y="6780286"/>
            <a:ext cx="2275580" cy="388992"/>
            <a:chOff x="0" y="0"/>
            <a:chExt cx="3034106" cy="5186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034112" cy="518657"/>
            </a:xfrm>
            <a:custGeom>
              <a:avLst/>
              <a:gdLst/>
              <a:ahLst/>
              <a:cxnLst/>
              <a:rect r="r" b="b" t="t" l="l"/>
              <a:pathLst>
                <a:path h="518657" w="3034112">
                  <a:moveTo>
                    <a:pt x="0" y="0"/>
                  </a:moveTo>
                  <a:lnTo>
                    <a:pt x="3034112" y="0"/>
                  </a:lnTo>
                  <a:lnTo>
                    <a:pt x="3034112" y="518657"/>
                  </a:lnTo>
                  <a:lnTo>
                    <a:pt x="0" y="51865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986" r="0" b="-6398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034106" cy="547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5"/>
                </a:lnSpc>
              </a:pPr>
              <a:r>
                <a:rPr lang="en-US" sz="127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05700" y="2008493"/>
            <a:ext cx="3890196" cy="2194560"/>
            <a:chOff x="0" y="0"/>
            <a:chExt cx="1440813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40813" cy="812800"/>
            </a:xfrm>
            <a:custGeom>
              <a:avLst/>
              <a:gdLst/>
              <a:ahLst/>
              <a:cxnLst/>
              <a:rect r="r" b="b" t="t" l="l"/>
              <a:pathLst>
                <a:path h="812800" w="1440813">
                  <a:moveTo>
                    <a:pt x="0" y="0"/>
                  </a:moveTo>
                  <a:lnTo>
                    <a:pt x="1440813" y="0"/>
                  </a:lnTo>
                  <a:lnTo>
                    <a:pt x="144081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AF6E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44081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05700" y="4389120"/>
            <a:ext cx="3890196" cy="2194560"/>
            <a:chOff x="0" y="0"/>
            <a:chExt cx="1440813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40813" cy="812800"/>
            </a:xfrm>
            <a:custGeom>
              <a:avLst/>
              <a:gdLst/>
              <a:ahLst/>
              <a:cxnLst/>
              <a:rect r="r" b="b" t="t" l="l"/>
              <a:pathLst>
                <a:path h="812800" w="1440813">
                  <a:moveTo>
                    <a:pt x="0" y="0"/>
                  </a:moveTo>
                  <a:lnTo>
                    <a:pt x="1440813" y="0"/>
                  </a:lnTo>
                  <a:lnTo>
                    <a:pt x="144081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AF6E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144081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31520" y="4574528"/>
            <a:ext cx="3438555" cy="1752644"/>
            <a:chOff x="0" y="0"/>
            <a:chExt cx="4584740" cy="2336859"/>
          </a:xfrm>
        </p:grpSpPr>
        <p:sp>
          <p:nvSpPr>
            <p:cNvPr name="TextBox 41" id="41"/>
            <p:cNvSpPr txBox="true"/>
            <p:nvPr/>
          </p:nvSpPr>
          <p:spPr>
            <a:xfrm rot="0">
              <a:off x="0" y="-38100"/>
              <a:ext cx="4122444" cy="43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69"/>
                </a:lnSpc>
              </a:pPr>
              <a:r>
                <a:rPr lang="en-US" b="true" sz="1976" spc="-3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Compare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0" y="605034"/>
              <a:ext cx="4584740" cy="1731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69"/>
                </a:lnSpc>
              </a:pPr>
              <a:r>
                <a:rPr lang="en-US" sz="1976" spc="-3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Analyze the differences between organ</a:t>
              </a:r>
              <a:r>
                <a:rPr lang="en-US" sz="1976" spc="-39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ic and sponsored links within search engine result pages (SERPs).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31520" y="2195085"/>
            <a:ext cx="3438555" cy="1750255"/>
            <a:chOff x="0" y="0"/>
            <a:chExt cx="4584740" cy="2333673"/>
          </a:xfrm>
        </p:grpSpPr>
        <p:sp>
          <p:nvSpPr>
            <p:cNvPr name="TextBox 44" id="44"/>
            <p:cNvSpPr txBox="true"/>
            <p:nvPr/>
          </p:nvSpPr>
          <p:spPr>
            <a:xfrm rot="0">
              <a:off x="0" y="-38100"/>
              <a:ext cx="4122444" cy="43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69"/>
                </a:lnSpc>
              </a:pPr>
              <a:r>
                <a:rPr lang="en-US" b="true" sz="1976" spc="-3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Understand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0" y="601848"/>
              <a:ext cx="4584740" cy="1731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69"/>
                </a:lnSpc>
              </a:pPr>
              <a:r>
                <a:rPr lang="en-US" sz="1976" spc="-3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Examine how sponsored search results </a:t>
              </a:r>
              <a:r>
                <a:rPr lang="en-US" sz="1976" spc="-39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influence user attention, trust, and decision-making behavior during online searches.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826090" y="2008493"/>
            <a:ext cx="3890196" cy="2194560"/>
            <a:chOff x="0" y="0"/>
            <a:chExt cx="1440813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40813" cy="812800"/>
            </a:xfrm>
            <a:custGeom>
              <a:avLst/>
              <a:gdLst/>
              <a:ahLst/>
              <a:cxnLst/>
              <a:rect r="r" b="b" t="t" l="l"/>
              <a:pathLst>
                <a:path h="812800" w="1440813">
                  <a:moveTo>
                    <a:pt x="0" y="0"/>
                  </a:moveTo>
                  <a:lnTo>
                    <a:pt x="1440813" y="0"/>
                  </a:lnTo>
                  <a:lnTo>
                    <a:pt x="144081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AF6E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144081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040859" y="2195085"/>
            <a:ext cx="3460659" cy="1426405"/>
            <a:chOff x="0" y="0"/>
            <a:chExt cx="4614212" cy="1901873"/>
          </a:xfrm>
        </p:grpSpPr>
        <p:sp>
          <p:nvSpPr>
            <p:cNvPr name="TextBox 50" id="50"/>
            <p:cNvSpPr txBox="true"/>
            <p:nvPr/>
          </p:nvSpPr>
          <p:spPr>
            <a:xfrm rot="0">
              <a:off x="0" y="-38100"/>
              <a:ext cx="4122444" cy="43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69"/>
                </a:lnSpc>
              </a:pPr>
              <a:r>
                <a:rPr lang="en-US" b="true" sz="1976" spc="-3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Study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19775" y="601848"/>
              <a:ext cx="4594437" cy="1300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69"/>
                </a:lnSpc>
              </a:pPr>
              <a:r>
                <a:rPr lang="en-US" sz="1976" spc="-3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Investigate the relationship between advertisement relevance, click behavior, and user trust</a:t>
              </a:r>
              <a:r>
                <a:rPr lang="en-US" sz="1976" spc="-39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formation.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4826090" y="4383700"/>
            <a:ext cx="3890196" cy="2194560"/>
            <a:chOff x="0" y="0"/>
            <a:chExt cx="1440813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440813" cy="812800"/>
            </a:xfrm>
            <a:custGeom>
              <a:avLst/>
              <a:gdLst/>
              <a:ahLst/>
              <a:cxnLst/>
              <a:rect r="r" b="b" t="t" l="l"/>
              <a:pathLst>
                <a:path h="812800" w="1440813">
                  <a:moveTo>
                    <a:pt x="0" y="0"/>
                  </a:moveTo>
                  <a:lnTo>
                    <a:pt x="1440813" y="0"/>
                  </a:lnTo>
                  <a:lnTo>
                    <a:pt x="144081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AF6E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144081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040859" y="4574528"/>
            <a:ext cx="3460659" cy="1752644"/>
            <a:chOff x="0" y="0"/>
            <a:chExt cx="4614212" cy="2336859"/>
          </a:xfrm>
        </p:grpSpPr>
        <p:sp>
          <p:nvSpPr>
            <p:cNvPr name="TextBox 56" id="56"/>
            <p:cNvSpPr txBox="true"/>
            <p:nvPr/>
          </p:nvSpPr>
          <p:spPr>
            <a:xfrm rot="0">
              <a:off x="0" y="-38100"/>
              <a:ext cx="4122444" cy="43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69"/>
                </a:lnSpc>
              </a:pPr>
              <a:r>
                <a:rPr lang="en-US" b="true" sz="1976" spc="-3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Explore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19775" y="605034"/>
              <a:ext cx="4594437" cy="1731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69"/>
                </a:lnSpc>
              </a:pPr>
              <a:r>
                <a:rPr lang="en-US" sz="1976" spc="-3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Understand how cross-platform advertising</a:t>
              </a:r>
              <a:r>
                <a:rPr lang="en-US" sz="1976" spc="-39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contributes to organic visibility and search ranking authority.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-3814691" y="6769747"/>
            <a:ext cx="3890196" cy="2194560"/>
            <a:chOff x="0" y="0"/>
            <a:chExt cx="1440813" cy="812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440813" cy="812800"/>
            </a:xfrm>
            <a:custGeom>
              <a:avLst/>
              <a:gdLst/>
              <a:ahLst/>
              <a:cxnLst/>
              <a:rect r="r" b="b" t="t" l="l"/>
              <a:pathLst>
                <a:path h="812800" w="1440813">
                  <a:moveTo>
                    <a:pt x="0" y="0"/>
                  </a:moveTo>
                  <a:lnTo>
                    <a:pt x="1440813" y="0"/>
                  </a:lnTo>
                  <a:lnTo>
                    <a:pt x="144081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144081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219" cy="893569"/>
            <a:chOff x="0" y="0"/>
            <a:chExt cx="13004292" cy="1191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292" cy="1191387"/>
            </a:xfrm>
            <a:custGeom>
              <a:avLst/>
              <a:gdLst/>
              <a:ahLst/>
              <a:cxnLst/>
              <a:rect r="r" b="b" t="t" l="l"/>
              <a:pathLst>
                <a:path h="1191387" w="13004292">
                  <a:moveTo>
                    <a:pt x="0" y="0"/>
                  </a:moveTo>
                  <a:lnTo>
                    <a:pt x="13004292" y="0"/>
                  </a:lnTo>
                  <a:lnTo>
                    <a:pt x="13004292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0" y="7151618"/>
            <a:ext cx="9753219" cy="210817"/>
            <a:chOff x="0" y="0"/>
            <a:chExt cx="13004292" cy="2810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004292" cy="281051"/>
            </a:xfrm>
            <a:custGeom>
              <a:avLst/>
              <a:gdLst/>
              <a:ahLst/>
              <a:cxnLst/>
              <a:rect r="r" b="b" t="t" l="l"/>
              <a:pathLst>
                <a:path h="281051" w="13004292">
                  <a:moveTo>
                    <a:pt x="13004292" y="0"/>
                  </a:moveTo>
                  <a:lnTo>
                    <a:pt x="0" y="0"/>
                  </a:lnTo>
                  <a:lnTo>
                    <a:pt x="0" y="281051"/>
                  </a:lnTo>
                  <a:lnTo>
                    <a:pt x="13004292" y="281051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7" id="7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9" id="9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556419" y="0"/>
            <a:ext cx="3196800" cy="893569"/>
            <a:chOff x="0" y="0"/>
            <a:chExt cx="4262399" cy="11914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62374" cy="1191387"/>
            </a:xfrm>
            <a:custGeom>
              <a:avLst/>
              <a:gdLst/>
              <a:ahLst/>
              <a:cxnLst/>
              <a:rect r="r" b="b" t="t" l="l"/>
              <a:pathLst>
                <a:path h="1191387" w="4262374">
                  <a:moveTo>
                    <a:pt x="0" y="0"/>
                  </a:moveTo>
                  <a:lnTo>
                    <a:pt x="4262374" y="0"/>
                  </a:lnTo>
                  <a:lnTo>
                    <a:pt x="4262374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13" id="13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963070" y="203140"/>
            <a:ext cx="2214524" cy="731139"/>
            <a:chOff x="0" y="0"/>
            <a:chExt cx="2952699" cy="9748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52750" cy="974852"/>
            </a:xfrm>
            <a:custGeom>
              <a:avLst/>
              <a:gdLst/>
              <a:ahLst/>
              <a:cxnLst/>
              <a:rect r="r" b="b" t="t" l="l"/>
              <a:pathLst>
                <a:path h="974852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974852"/>
                  </a:lnTo>
                  <a:lnTo>
                    <a:pt x="0" y="9748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989950" y="243840"/>
            <a:ext cx="2048637" cy="649729"/>
            <a:chOff x="0" y="0"/>
            <a:chExt cx="2731516" cy="866305"/>
          </a:xfrm>
        </p:grpSpPr>
        <p:sp>
          <p:nvSpPr>
            <p:cNvPr name="Freeform 17" id="17" descr="logo.jpg"/>
            <p:cNvSpPr/>
            <p:nvPr/>
          </p:nvSpPr>
          <p:spPr>
            <a:xfrm flipH="false" flipV="false" rot="0">
              <a:off x="0" y="0"/>
              <a:ext cx="2731516" cy="866267"/>
            </a:xfrm>
            <a:custGeom>
              <a:avLst/>
              <a:gdLst/>
              <a:ahLst/>
              <a:cxnLst/>
              <a:rect r="r" b="b" t="t" l="l"/>
              <a:pathLst>
                <a:path h="866267" w="2731516">
                  <a:moveTo>
                    <a:pt x="0" y="0"/>
                  </a:moveTo>
                  <a:lnTo>
                    <a:pt x="2731516" y="0"/>
                  </a:lnTo>
                  <a:lnTo>
                    <a:pt x="2731516" y="866267"/>
                  </a:lnTo>
                  <a:lnTo>
                    <a:pt x="0" y="866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7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19" id="19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556419" y="0"/>
            <a:ext cx="3196800" cy="893569"/>
            <a:chOff x="0" y="0"/>
            <a:chExt cx="4262399" cy="11914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62374" cy="1191387"/>
            </a:xfrm>
            <a:custGeom>
              <a:avLst/>
              <a:gdLst/>
              <a:ahLst/>
              <a:cxnLst/>
              <a:rect r="r" b="b" t="t" l="l"/>
              <a:pathLst>
                <a:path h="1191387" w="4262374">
                  <a:moveTo>
                    <a:pt x="0" y="0"/>
                  </a:moveTo>
                  <a:lnTo>
                    <a:pt x="4262374" y="0"/>
                  </a:lnTo>
                  <a:lnTo>
                    <a:pt x="4262374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23" id="23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963070" y="203140"/>
            <a:ext cx="2214524" cy="731139"/>
            <a:chOff x="0" y="0"/>
            <a:chExt cx="2952699" cy="9748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52750" cy="974852"/>
            </a:xfrm>
            <a:custGeom>
              <a:avLst/>
              <a:gdLst/>
              <a:ahLst/>
              <a:cxnLst/>
              <a:rect r="r" b="b" t="t" l="l"/>
              <a:pathLst>
                <a:path h="974852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974852"/>
                  </a:lnTo>
                  <a:lnTo>
                    <a:pt x="0" y="9748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989950" y="243840"/>
            <a:ext cx="2048637" cy="649729"/>
            <a:chOff x="0" y="0"/>
            <a:chExt cx="2731516" cy="866305"/>
          </a:xfrm>
        </p:grpSpPr>
        <p:sp>
          <p:nvSpPr>
            <p:cNvPr name="Freeform 27" id="27" descr="logo.jpg"/>
            <p:cNvSpPr/>
            <p:nvPr/>
          </p:nvSpPr>
          <p:spPr>
            <a:xfrm flipH="false" flipV="false" rot="0">
              <a:off x="0" y="0"/>
              <a:ext cx="2731516" cy="866267"/>
            </a:xfrm>
            <a:custGeom>
              <a:avLst/>
              <a:gdLst/>
              <a:ahLst/>
              <a:cxnLst/>
              <a:rect r="r" b="b" t="t" l="l"/>
              <a:pathLst>
                <a:path h="866267" w="2731516">
                  <a:moveTo>
                    <a:pt x="0" y="0"/>
                  </a:moveTo>
                  <a:lnTo>
                    <a:pt x="2731516" y="0"/>
                  </a:lnTo>
                  <a:lnTo>
                    <a:pt x="2731516" y="866267"/>
                  </a:lnTo>
                  <a:lnTo>
                    <a:pt x="0" y="866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7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989950" y="6780286"/>
            <a:ext cx="2275580" cy="388992"/>
            <a:chOff x="0" y="0"/>
            <a:chExt cx="3034106" cy="5186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034112" cy="518657"/>
            </a:xfrm>
            <a:custGeom>
              <a:avLst/>
              <a:gdLst/>
              <a:ahLst/>
              <a:cxnLst/>
              <a:rect r="r" b="b" t="t" l="l"/>
              <a:pathLst>
                <a:path h="518657" w="3034112">
                  <a:moveTo>
                    <a:pt x="0" y="0"/>
                  </a:moveTo>
                  <a:lnTo>
                    <a:pt x="3034112" y="0"/>
                  </a:lnTo>
                  <a:lnTo>
                    <a:pt x="3034112" y="518657"/>
                  </a:lnTo>
                  <a:lnTo>
                    <a:pt x="0" y="51865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986" r="0" b="-6398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034106" cy="547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5"/>
                </a:lnSpc>
              </a:pPr>
              <a:r>
                <a:rPr lang="en-US" b="true" sz="127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253670" y="1703325"/>
            <a:ext cx="5441844" cy="4679246"/>
            <a:chOff x="0" y="0"/>
            <a:chExt cx="7255792" cy="6238995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7255792" cy="6238995"/>
              <a:chOff x="0" y="0"/>
              <a:chExt cx="2015498" cy="1733054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015498" cy="1733054"/>
              </a:xfrm>
              <a:custGeom>
                <a:avLst/>
                <a:gdLst/>
                <a:ahLst/>
                <a:cxnLst/>
                <a:rect r="r" b="b" t="t" l="l"/>
                <a:pathLst>
                  <a:path h="1733054" w="2015498">
                    <a:moveTo>
                      <a:pt x="0" y="0"/>
                    </a:moveTo>
                    <a:lnTo>
                      <a:pt x="2015498" y="0"/>
                    </a:lnTo>
                    <a:lnTo>
                      <a:pt x="2015498" y="1733054"/>
                    </a:lnTo>
                    <a:lnTo>
                      <a:pt x="0" y="1733054"/>
                    </a:lnTo>
                    <a:close/>
                  </a:path>
                </a:pathLst>
              </a:custGeom>
              <a:solidFill>
                <a:srgbClr val="FAF6E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28575"/>
                <a:ext cx="2015498" cy="17616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454163" y="939331"/>
              <a:ext cx="6347465" cy="4322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Search engines display two types of results:</a:t>
              </a:r>
            </a:p>
            <a:p>
              <a:pPr algn="l" marL="863601" indent="-287867" lvl="2">
                <a:lnSpc>
                  <a:spcPts val="2600"/>
                </a:lnSpc>
                <a:buFont typeface="Arial"/>
                <a:buChar char="⚬"/>
              </a:pP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Organic Results (merit-based)</a:t>
              </a:r>
            </a:p>
            <a:p>
              <a:pPr algn="l" marL="863601" indent="-287867" lvl="2">
                <a:lnSpc>
                  <a:spcPts val="2600"/>
                </a:lnSpc>
                <a:buFont typeface="Arial"/>
                <a:buChar char="⚬"/>
              </a:pP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Sponsored Results (paid advertisements)</a:t>
              </a:r>
            </a:p>
            <a:p>
              <a:pPr algn="l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Sponsored links are a major revenue source for search engines.</a:t>
              </a:r>
            </a:p>
            <a:p>
              <a:pPr algn="l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User trust and relevance strongly influence interaction with sponsored ads.</a:t>
              </a:r>
            </a:p>
            <a:p>
              <a:pPr algn="l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Sponsored search impacts both decision-making and perception.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372032" y="3629025"/>
            <a:ext cx="252551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219" cy="893569"/>
            <a:chOff x="0" y="0"/>
            <a:chExt cx="13004292" cy="1191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292" cy="1191387"/>
            </a:xfrm>
            <a:custGeom>
              <a:avLst/>
              <a:gdLst/>
              <a:ahLst/>
              <a:cxnLst/>
              <a:rect r="r" b="b" t="t" l="l"/>
              <a:pathLst>
                <a:path h="1191387" w="13004292">
                  <a:moveTo>
                    <a:pt x="0" y="0"/>
                  </a:moveTo>
                  <a:lnTo>
                    <a:pt x="13004292" y="0"/>
                  </a:lnTo>
                  <a:lnTo>
                    <a:pt x="13004292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0" y="7151618"/>
            <a:ext cx="9753219" cy="210817"/>
            <a:chOff x="0" y="0"/>
            <a:chExt cx="13004292" cy="2810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004292" cy="281051"/>
            </a:xfrm>
            <a:custGeom>
              <a:avLst/>
              <a:gdLst/>
              <a:ahLst/>
              <a:cxnLst/>
              <a:rect r="r" b="b" t="t" l="l"/>
              <a:pathLst>
                <a:path h="281051" w="13004292">
                  <a:moveTo>
                    <a:pt x="13004292" y="0"/>
                  </a:moveTo>
                  <a:lnTo>
                    <a:pt x="0" y="0"/>
                  </a:lnTo>
                  <a:lnTo>
                    <a:pt x="0" y="281051"/>
                  </a:lnTo>
                  <a:lnTo>
                    <a:pt x="13004292" y="281051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7" id="7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9" id="9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556419" y="0"/>
            <a:ext cx="3196800" cy="893569"/>
            <a:chOff x="0" y="0"/>
            <a:chExt cx="4262399" cy="11914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62374" cy="1191387"/>
            </a:xfrm>
            <a:custGeom>
              <a:avLst/>
              <a:gdLst/>
              <a:ahLst/>
              <a:cxnLst/>
              <a:rect r="r" b="b" t="t" l="l"/>
              <a:pathLst>
                <a:path h="1191387" w="4262374">
                  <a:moveTo>
                    <a:pt x="0" y="0"/>
                  </a:moveTo>
                  <a:lnTo>
                    <a:pt x="4262374" y="0"/>
                  </a:lnTo>
                  <a:lnTo>
                    <a:pt x="4262374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13" id="13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963070" y="203140"/>
            <a:ext cx="2214524" cy="731139"/>
            <a:chOff x="0" y="0"/>
            <a:chExt cx="2952699" cy="9748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52750" cy="974852"/>
            </a:xfrm>
            <a:custGeom>
              <a:avLst/>
              <a:gdLst/>
              <a:ahLst/>
              <a:cxnLst/>
              <a:rect r="r" b="b" t="t" l="l"/>
              <a:pathLst>
                <a:path h="974852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974852"/>
                  </a:lnTo>
                  <a:lnTo>
                    <a:pt x="0" y="9748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989950" y="243840"/>
            <a:ext cx="2048637" cy="649729"/>
            <a:chOff x="0" y="0"/>
            <a:chExt cx="2731516" cy="866305"/>
          </a:xfrm>
        </p:grpSpPr>
        <p:sp>
          <p:nvSpPr>
            <p:cNvPr name="Freeform 17" id="17" descr="logo.jpg"/>
            <p:cNvSpPr/>
            <p:nvPr/>
          </p:nvSpPr>
          <p:spPr>
            <a:xfrm flipH="false" flipV="false" rot="0">
              <a:off x="0" y="0"/>
              <a:ext cx="2731516" cy="866267"/>
            </a:xfrm>
            <a:custGeom>
              <a:avLst/>
              <a:gdLst/>
              <a:ahLst/>
              <a:cxnLst/>
              <a:rect r="r" b="b" t="t" l="l"/>
              <a:pathLst>
                <a:path h="866267" w="2731516">
                  <a:moveTo>
                    <a:pt x="0" y="0"/>
                  </a:moveTo>
                  <a:lnTo>
                    <a:pt x="2731516" y="0"/>
                  </a:lnTo>
                  <a:lnTo>
                    <a:pt x="2731516" y="866267"/>
                  </a:lnTo>
                  <a:lnTo>
                    <a:pt x="0" y="866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7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19" id="19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556419" y="0"/>
            <a:ext cx="3196800" cy="893569"/>
            <a:chOff x="0" y="0"/>
            <a:chExt cx="4262399" cy="11914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62374" cy="1191387"/>
            </a:xfrm>
            <a:custGeom>
              <a:avLst/>
              <a:gdLst/>
              <a:ahLst/>
              <a:cxnLst/>
              <a:rect r="r" b="b" t="t" l="l"/>
              <a:pathLst>
                <a:path h="1191387" w="4262374">
                  <a:moveTo>
                    <a:pt x="0" y="0"/>
                  </a:moveTo>
                  <a:lnTo>
                    <a:pt x="4262374" y="0"/>
                  </a:lnTo>
                  <a:lnTo>
                    <a:pt x="4262374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23" id="23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963070" y="203140"/>
            <a:ext cx="2214524" cy="731139"/>
            <a:chOff x="0" y="0"/>
            <a:chExt cx="2952699" cy="9748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52750" cy="974852"/>
            </a:xfrm>
            <a:custGeom>
              <a:avLst/>
              <a:gdLst/>
              <a:ahLst/>
              <a:cxnLst/>
              <a:rect r="r" b="b" t="t" l="l"/>
              <a:pathLst>
                <a:path h="974852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974852"/>
                  </a:lnTo>
                  <a:lnTo>
                    <a:pt x="0" y="9748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989950" y="243840"/>
            <a:ext cx="2048637" cy="649729"/>
            <a:chOff x="0" y="0"/>
            <a:chExt cx="2731516" cy="866305"/>
          </a:xfrm>
        </p:grpSpPr>
        <p:sp>
          <p:nvSpPr>
            <p:cNvPr name="Freeform 27" id="27" descr="logo.jpg"/>
            <p:cNvSpPr/>
            <p:nvPr/>
          </p:nvSpPr>
          <p:spPr>
            <a:xfrm flipH="false" flipV="false" rot="0">
              <a:off x="0" y="0"/>
              <a:ext cx="2731516" cy="866267"/>
            </a:xfrm>
            <a:custGeom>
              <a:avLst/>
              <a:gdLst/>
              <a:ahLst/>
              <a:cxnLst/>
              <a:rect r="r" b="b" t="t" l="l"/>
              <a:pathLst>
                <a:path h="866267" w="2731516">
                  <a:moveTo>
                    <a:pt x="0" y="0"/>
                  </a:moveTo>
                  <a:lnTo>
                    <a:pt x="2731516" y="0"/>
                  </a:lnTo>
                  <a:lnTo>
                    <a:pt x="2731516" y="866267"/>
                  </a:lnTo>
                  <a:lnTo>
                    <a:pt x="0" y="866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7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989950" y="6762626"/>
            <a:ext cx="2275580" cy="388992"/>
            <a:chOff x="0" y="0"/>
            <a:chExt cx="3034106" cy="5186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034112" cy="518657"/>
            </a:xfrm>
            <a:custGeom>
              <a:avLst/>
              <a:gdLst/>
              <a:ahLst/>
              <a:cxnLst/>
              <a:rect r="r" b="b" t="t" l="l"/>
              <a:pathLst>
                <a:path h="518657" w="3034112">
                  <a:moveTo>
                    <a:pt x="0" y="0"/>
                  </a:moveTo>
                  <a:lnTo>
                    <a:pt x="3034112" y="0"/>
                  </a:lnTo>
                  <a:lnTo>
                    <a:pt x="3034112" y="518657"/>
                  </a:lnTo>
                  <a:lnTo>
                    <a:pt x="0" y="51865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986" r="0" b="-6398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034106" cy="547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5"/>
                </a:lnSpc>
              </a:pPr>
              <a:r>
                <a:rPr lang="en-US" b="true" sz="127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48776" y="2852561"/>
            <a:ext cx="4103640" cy="3181771"/>
            <a:chOff x="0" y="0"/>
            <a:chExt cx="1519867" cy="11784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19867" cy="1178434"/>
            </a:xfrm>
            <a:custGeom>
              <a:avLst/>
              <a:gdLst/>
              <a:ahLst/>
              <a:cxnLst/>
              <a:rect r="r" b="b" t="t" l="l"/>
              <a:pathLst>
                <a:path h="1178434" w="1519867">
                  <a:moveTo>
                    <a:pt x="0" y="0"/>
                  </a:moveTo>
                  <a:lnTo>
                    <a:pt x="1519867" y="0"/>
                  </a:lnTo>
                  <a:lnTo>
                    <a:pt x="1519867" y="1178434"/>
                  </a:lnTo>
                  <a:lnTo>
                    <a:pt x="0" y="1178434"/>
                  </a:lnTo>
                  <a:close/>
                </a:path>
              </a:pathLst>
            </a:custGeom>
            <a:solidFill>
              <a:srgbClr val="FAF6E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1519867" cy="1245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458605" y="3443288"/>
            <a:ext cx="268398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9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Organic Ranking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5161890" y="2852561"/>
            <a:ext cx="4103640" cy="3181771"/>
            <a:chOff x="0" y="0"/>
            <a:chExt cx="1519867" cy="117843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19867" cy="1178434"/>
            </a:xfrm>
            <a:custGeom>
              <a:avLst/>
              <a:gdLst/>
              <a:ahLst/>
              <a:cxnLst/>
              <a:rect r="r" b="b" t="t" l="l"/>
              <a:pathLst>
                <a:path h="1178434" w="1519867">
                  <a:moveTo>
                    <a:pt x="0" y="0"/>
                  </a:moveTo>
                  <a:lnTo>
                    <a:pt x="1519867" y="0"/>
                  </a:lnTo>
                  <a:lnTo>
                    <a:pt x="1519867" y="1178434"/>
                  </a:lnTo>
                  <a:lnTo>
                    <a:pt x="0" y="1178434"/>
                  </a:lnTo>
                  <a:close/>
                </a:path>
              </a:pathLst>
            </a:custGeom>
            <a:solidFill>
              <a:srgbClr val="FAF6E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1519867" cy="1245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5784145" y="3443288"/>
            <a:ext cx="285912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9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Sponsored Ranking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784145" y="4120074"/>
            <a:ext cx="3042531" cy="11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32" indent="-183516" lvl="1">
              <a:lnSpc>
                <a:spcPts val="2210"/>
              </a:lnSpc>
              <a:spcBef>
                <a:spcPct val="0"/>
              </a:spcBef>
              <a:buFont typeface="Arial"/>
              <a:buChar char="•"/>
            </a:pP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Paid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-d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</a:t>
            </a:r>
          </a:p>
          <a:p>
            <a:pPr algn="l" marL="367032" indent="-183516" lvl="1">
              <a:lnSpc>
                <a:spcPts val="2210"/>
              </a:lnSpc>
              <a:spcBef>
                <a:spcPct val="0"/>
              </a:spcBef>
              <a:buFont typeface="Arial"/>
              <a:buChar char="•"/>
            </a:pP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Revenue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-g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enerating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SE</a:t>
            </a:r>
          </a:p>
          <a:p>
            <a:pPr algn="l" marL="367032" indent="-183516" lvl="1">
              <a:lnSpc>
                <a:spcPts val="2210"/>
              </a:lnSpc>
              <a:spcBef>
                <a:spcPct val="0"/>
              </a:spcBef>
              <a:buFont typeface="Arial"/>
              <a:buChar char="•"/>
            </a:pP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Ranked by eRPM (CTR × b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algn="l" marL="367032" indent="-183516" lvl="1">
              <a:lnSpc>
                <a:spcPts val="2210"/>
              </a:lnSpc>
              <a:spcBef>
                <a:spcPct val="0"/>
              </a:spcBef>
              <a:buFont typeface="Arial"/>
              <a:buChar char="•"/>
            </a:pP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us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trust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83483" y="4120074"/>
            <a:ext cx="3177317" cy="11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32" indent="-183516" lvl="1">
              <a:lnSpc>
                <a:spcPts val="2210"/>
              </a:lnSpc>
              <a:spcBef>
                <a:spcPct val="0"/>
              </a:spcBef>
              <a:buFont typeface="Arial"/>
              <a:buChar char="•"/>
            </a:pP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Merit-based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SEO-dr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</a:p>
          <a:p>
            <a:pPr algn="l" marL="367032" indent="-183516" lvl="1">
              <a:lnSpc>
                <a:spcPts val="2210"/>
              </a:lnSpc>
              <a:spcBef>
                <a:spcPct val="0"/>
              </a:spcBef>
              <a:buFont typeface="Arial"/>
              <a:buChar char="•"/>
            </a:pP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t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rust</a:t>
            </a:r>
          </a:p>
          <a:p>
            <a:pPr algn="l" marL="367032" indent="-183516" lvl="1">
              <a:lnSpc>
                <a:spcPts val="2210"/>
              </a:lnSpc>
              <a:spcBef>
                <a:spcPct val="0"/>
              </a:spcBef>
              <a:buFont typeface="Arial"/>
              <a:buChar char="•"/>
            </a:pP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Accessible to small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</a:p>
          <a:p>
            <a:pPr algn="l" marL="367032" indent="-183516" lvl="1">
              <a:lnSpc>
                <a:spcPts val="2210"/>
              </a:lnSpc>
              <a:spcBef>
                <a:spcPct val="0"/>
              </a:spcBef>
              <a:buFont typeface="Arial"/>
              <a:buChar char="•"/>
            </a:pP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pur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ly by releva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700" spc="-34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31520" y="1595261"/>
            <a:ext cx="252551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219" cy="893569"/>
            <a:chOff x="0" y="0"/>
            <a:chExt cx="13004292" cy="1191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292" cy="1191387"/>
            </a:xfrm>
            <a:custGeom>
              <a:avLst/>
              <a:gdLst/>
              <a:ahLst/>
              <a:cxnLst/>
              <a:rect r="r" b="b" t="t" l="l"/>
              <a:pathLst>
                <a:path h="1191387" w="13004292">
                  <a:moveTo>
                    <a:pt x="0" y="0"/>
                  </a:moveTo>
                  <a:lnTo>
                    <a:pt x="13004292" y="0"/>
                  </a:lnTo>
                  <a:lnTo>
                    <a:pt x="13004292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0" y="7151618"/>
            <a:ext cx="9753219" cy="210817"/>
            <a:chOff x="0" y="0"/>
            <a:chExt cx="13004292" cy="2810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004292" cy="281051"/>
            </a:xfrm>
            <a:custGeom>
              <a:avLst/>
              <a:gdLst/>
              <a:ahLst/>
              <a:cxnLst/>
              <a:rect r="r" b="b" t="t" l="l"/>
              <a:pathLst>
                <a:path h="281051" w="13004292">
                  <a:moveTo>
                    <a:pt x="13004292" y="0"/>
                  </a:moveTo>
                  <a:lnTo>
                    <a:pt x="0" y="0"/>
                  </a:lnTo>
                  <a:lnTo>
                    <a:pt x="0" y="281051"/>
                  </a:lnTo>
                  <a:lnTo>
                    <a:pt x="13004292" y="281051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7" id="7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9" id="9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556419" y="0"/>
            <a:ext cx="3196800" cy="893569"/>
            <a:chOff x="0" y="0"/>
            <a:chExt cx="4262399" cy="11914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62374" cy="1191387"/>
            </a:xfrm>
            <a:custGeom>
              <a:avLst/>
              <a:gdLst/>
              <a:ahLst/>
              <a:cxnLst/>
              <a:rect r="r" b="b" t="t" l="l"/>
              <a:pathLst>
                <a:path h="1191387" w="4262374">
                  <a:moveTo>
                    <a:pt x="0" y="0"/>
                  </a:moveTo>
                  <a:lnTo>
                    <a:pt x="4262374" y="0"/>
                  </a:lnTo>
                  <a:lnTo>
                    <a:pt x="4262374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13" id="13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963070" y="203140"/>
            <a:ext cx="2214524" cy="731139"/>
            <a:chOff x="0" y="0"/>
            <a:chExt cx="2952699" cy="9748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52750" cy="974852"/>
            </a:xfrm>
            <a:custGeom>
              <a:avLst/>
              <a:gdLst/>
              <a:ahLst/>
              <a:cxnLst/>
              <a:rect r="r" b="b" t="t" l="l"/>
              <a:pathLst>
                <a:path h="974852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974852"/>
                  </a:lnTo>
                  <a:lnTo>
                    <a:pt x="0" y="9748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989950" y="243840"/>
            <a:ext cx="2048637" cy="649729"/>
            <a:chOff x="0" y="0"/>
            <a:chExt cx="2731516" cy="866305"/>
          </a:xfrm>
        </p:grpSpPr>
        <p:sp>
          <p:nvSpPr>
            <p:cNvPr name="Freeform 17" id="17" descr="logo.jpg"/>
            <p:cNvSpPr/>
            <p:nvPr/>
          </p:nvSpPr>
          <p:spPr>
            <a:xfrm flipH="false" flipV="false" rot="0">
              <a:off x="0" y="0"/>
              <a:ext cx="2731516" cy="866267"/>
            </a:xfrm>
            <a:custGeom>
              <a:avLst/>
              <a:gdLst/>
              <a:ahLst/>
              <a:cxnLst/>
              <a:rect r="r" b="b" t="t" l="l"/>
              <a:pathLst>
                <a:path h="866267" w="2731516">
                  <a:moveTo>
                    <a:pt x="0" y="0"/>
                  </a:moveTo>
                  <a:lnTo>
                    <a:pt x="2731516" y="0"/>
                  </a:lnTo>
                  <a:lnTo>
                    <a:pt x="2731516" y="866267"/>
                  </a:lnTo>
                  <a:lnTo>
                    <a:pt x="0" y="866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7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19" id="19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556419" y="0"/>
            <a:ext cx="3196800" cy="893569"/>
            <a:chOff x="0" y="0"/>
            <a:chExt cx="4262399" cy="11914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62374" cy="1191387"/>
            </a:xfrm>
            <a:custGeom>
              <a:avLst/>
              <a:gdLst/>
              <a:ahLst/>
              <a:cxnLst/>
              <a:rect r="r" b="b" t="t" l="l"/>
              <a:pathLst>
                <a:path h="1191387" w="4262374">
                  <a:moveTo>
                    <a:pt x="0" y="0"/>
                  </a:moveTo>
                  <a:lnTo>
                    <a:pt x="4262374" y="0"/>
                  </a:lnTo>
                  <a:lnTo>
                    <a:pt x="4262374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23" id="23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963070" y="203140"/>
            <a:ext cx="2214524" cy="731139"/>
            <a:chOff x="0" y="0"/>
            <a:chExt cx="2952699" cy="9748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52750" cy="974852"/>
            </a:xfrm>
            <a:custGeom>
              <a:avLst/>
              <a:gdLst/>
              <a:ahLst/>
              <a:cxnLst/>
              <a:rect r="r" b="b" t="t" l="l"/>
              <a:pathLst>
                <a:path h="974852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974852"/>
                  </a:lnTo>
                  <a:lnTo>
                    <a:pt x="0" y="9748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989950" y="243840"/>
            <a:ext cx="2048637" cy="649729"/>
            <a:chOff x="0" y="0"/>
            <a:chExt cx="2731516" cy="866305"/>
          </a:xfrm>
        </p:grpSpPr>
        <p:sp>
          <p:nvSpPr>
            <p:cNvPr name="Freeform 27" id="27" descr="logo.jpg"/>
            <p:cNvSpPr/>
            <p:nvPr/>
          </p:nvSpPr>
          <p:spPr>
            <a:xfrm flipH="false" flipV="false" rot="0">
              <a:off x="0" y="0"/>
              <a:ext cx="2731516" cy="866267"/>
            </a:xfrm>
            <a:custGeom>
              <a:avLst/>
              <a:gdLst/>
              <a:ahLst/>
              <a:cxnLst/>
              <a:rect r="r" b="b" t="t" l="l"/>
              <a:pathLst>
                <a:path h="866267" w="2731516">
                  <a:moveTo>
                    <a:pt x="0" y="0"/>
                  </a:moveTo>
                  <a:lnTo>
                    <a:pt x="2731516" y="0"/>
                  </a:lnTo>
                  <a:lnTo>
                    <a:pt x="2731516" y="866267"/>
                  </a:lnTo>
                  <a:lnTo>
                    <a:pt x="0" y="866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7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56539" y="3027052"/>
            <a:ext cx="2655093" cy="1261095"/>
            <a:chOff x="0" y="0"/>
            <a:chExt cx="3540124" cy="16814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540130" cy="1681459"/>
            </a:xfrm>
            <a:custGeom>
              <a:avLst/>
              <a:gdLst/>
              <a:ahLst/>
              <a:cxnLst/>
              <a:rect r="r" b="b" t="t" l="l"/>
              <a:pathLst>
                <a:path h="1681459" w="3540130">
                  <a:moveTo>
                    <a:pt x="0" y="0"/>
                  </a:moveTo>
                  <a:lnTo>
                    <a:pt x="3540130" y="0"/>
                  </a:lnTo>
                  <a:lnTo>
                    <a:pt x="3540130" y="1681459"/>
                  </a:lnTo>
                  <a:lnTo>
                    <a:pt x="0" y="16814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779" r="-141831" b="-3463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540124" cy="1710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Problem Statement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908549" y="6762626"/>
            <a:ext cx="2275580" cy="388992"/>
            <a:chOff x="0" y="0"/>
            <a:chExt cx="3034106" cy="5186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034112" cy="518657"/>
            </a:xfrm>
            <a:custGeom>
              <a:avLst/>
              <a:gdLst/>
              <a:ahLst/>
              <a:cxnLst/>
              <a:rect r="r" b="b" t="t" l="l"/>
              <a:pathLst>
                <a:path h="518657" w="3034112">
                  <a:moveTo>
                    <a:pt x="0" y="0"/>
                  </a:moveTo>
                  <a:lnTo>
                    <a:pt x="3034112" y="0"/>
                  </a:lnTo>
                  <a:lnTo>
                    <a:pt x="3034112" y="518657"/>
                  </a:lnTo>
                  <a:lnTo>
                    <a:pt x="0" y="51865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986" r="0" b="-6398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034106" cy="547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5"/>
                </a:lnSpc>
              </a:pPr>
              <a:r>
                <a:rPr lang="en-US" b="true" sz="127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117462" y="2053534"/>
            <a:ext cx="5904618" cy="3914278"/>
            <a:chOff x="0" y="0"/>
            <a:chExt cx="7872824" cy="5219038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7872824" cy="5219038"/>
              <a:chOff x="0" y="0"/>
              <a:chExt cx="2015498" cy="133611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015498" cy="1336110"/>
              </a:xfrm>
              <a:custGeom>
                <a:avLst/>
                <a:gdLst/>
                <a:ahLst/>
                <a:cxnLst/>
                <a:rect r="r" b="b" t="t" l="l"/>
                <a:pathLst>
                  <a:path h="1336110" w="2015498">
                    <a:moveTo>
                      <a:pt x="0" y="0"/>
                    </a:moveTo>
                    <a:lnTo>
                      <a:pt x="2015498" y="0"/>
                    </a:lnTo>
                    <a:lnTo>
                      <a:pt x="2015498" y="1336110"/>
                    </a:lnTo>
                    <a:lnTo>
                      <a:pt x="0" y="1336110"/>
                    </a:lnTo>
                    <a:close/>
                  </a:path>
                </a:pathLst>
              </a:custGeom>
              <a:solidFill>
                <a:srgbClr val="FAF6E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28575"/>
                <a:ext cx="2015498" cy="13646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492785" y="715711"/>
              <a:ext cx="6887253" cy="3749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468521" indent="-234260" lvl="1">
                <a:lnSpc>
                  <a:spcPts val="2821"/>
                </a:lnSpc>
                <a:buFont typeface="Arial"/>
                <a:buChar char="•"/>
              </a:pPr>
              <a:r>
                <a:rPr lang="en-US" sz="2170" spc="-4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Click-bas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ra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sy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 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pri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or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ti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ad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 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it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 high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er 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ck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istor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y.</a:t>
              </a:r>
            </a:p>
            <a:p>
              <a:pPr algn="just" marL="468521" indent="-234260" lvl="1">
                <a:lnSpc>
                  <a:spcPts val="2821"/>
                </a:lnSpc>
                <a:buFont typeface="Arial"/>
                <a:buChar char="•"/>
              </a:pP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ghly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re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levant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ds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ma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re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mai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ns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ue 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 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low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CTR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</a:p>
            <a:p>
              <a:pPr algn="just" marL="468521" indent="-234260" lvl="1">
                <a:lnSpc>
                  <a:spcPts val="2821"/>
                </a:lnSpc>
                <a:buFont typeface="Arial"/>
                <a:buChar char="•"/>
              </a:pP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User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 often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trust 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 r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esu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ts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mor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 t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 sponsored 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result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s.</a:t>
              </a:r>
            </a:p>
            <a:p>
              <a:pPr algn="just" marL="468521" indent="-234260" lvl="1">
                <a:lnSpc>
                  <a:spcPts val="2821"/>
                </a:lnSpc>
                <a:buFont typeface="Arial"/>
                <a:buChar char="•"/>
              </a:pP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fa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rne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 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king 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rem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 c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hall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ges</a:t>
              </a:r>
              <a:r>
                <a:rPr lang="en-US" sz="2170" spc="-43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219" cy="893569"/>
            <a:chOff x="0" y="0"/>
            <a:chExt cx="13004292" cy="1191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292" cy="1191387"/>
            </a:xfrm>
            <a:custGeom>
              <a:avLst/>
              <a:gdLst/>
              <a:ahLst/>
              <a:cxnLst/>
              <a:rect r="r" b="b" t="t" l="l"/>
              <a:pathLst>
                <a:path h="1191387" w="13004292">
                  <a:moveTo>
                    <a:pt x="0" y="0"/>
                  </a:moveTo>
                  <a:lnTo>
                    <a:pt x="13004292" y="0"/>
                  </a:lnTo>
                  <a:lnTo>
                    <a:pt x="13004292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0" y="7151618"/>
            <a:ext cx="9753219" cy="210817"/>
            <a:chOff x="0" y="0"/>
            <a:chExt cx="13004292" cy="2810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004292" cy="281051"/>
            </a:xfrm>
            <a:custGeom>
              <a:avLst/>
              <a:gdLst/>
              <a:ahLst/>
              <a:cxnLst/>
              <a:rect r="r" b="b" t="t" l="l"/>
              <a:pathLst>
                <a:path h="281051" w="13004292">
                  <a:moveTo>
                    <a:pt x="13004292" y="0"/>
                  </a:moveTo>
                  <a:lnTo>
                    <a:pt x="0" y="0"/>
                  </a:lnTo>
                  <a:lnTo>
                    <a:pt x="0" y="281051"/>
                  </a:lnTo>
                  <a:lnTo>
                    <a:pt x="13004292" y="281051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7" id="7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9" id="9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556419" y="0"/>
            <a:ext cx="3196800" cy="893569"/>
            <a:chOff x="0" y="0"/>
            <a:chExt cx="4262399" cy="11914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62374" cy="1191387"/>
            </a:xfrm>
            <a:custGeom>
              <a:avLst/>
              <a:gdLst/>
              <a:ahLst/>
              <a:cxnLst/>
              <a:rect r="r" b="b" t="t" l="l"/>
              <a:pathLst>
                <a:path h="1191387" w="4262374">
                  <a:moveTo>
                    <a:pt x="0" y="0"/>
                  </a:moveTo>
                  <a:lnTo>
                    <a:pt x="4262374" y="0"/>
                  </a:lnTo>
                  <a:lnTo>
                    <a:pt x="4262374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13" id="13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963070" y="203140"/>
            <a:ext cx="2214524" cy="731139"/>
            <a:chOff x="0" y="0"/>
            <a:chExt cx="2952699" cy="9748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52750" cy="974852"/>
            </a:xfrm>
            <a:custGeom>
              <a:avLst/>
              <a:gdLst/>
              <a:ahLst/>
              <a:cxnLst/>
              <a:rect r="r" b="b" t="t" l="l"/>
              <a:pathLst>
                <a:path h="974852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974852"/>
                  </a:lnTo>
                  <a:lnTo>
                    <a:pt x="0" y="9748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989950" y="243840"/>
            <a:ext cx="2048637" cy="649729"/>
            <a:chOff x="0" y="0"/>
            <a:chExt cx="2731516" cy="866305"/>
          </a:xfrm>
        </p:grpSpPr>
        <p:sp>
          <p:nvSpPr>
            <p:cNvPr name="Freeform 17" id="17" descr="logo.jpg"/>
            <p:cNvSpPr/>
            <p:nvPr/>
          </p:nvSpPr>
          <p:spPr>
            <a:xfrm flipH="false" flipV="false" rot="0">
              <a:off x="0" y="0"/>
              <a:ext cx="2731516" cy="866267"/>
            </a:xfrm>
            <a:custGeom>
              <a:avLst/>
              <a:gdLst/>
              <a:ahLst/>
              <a:cxnLst/>
              <a:rect r="r" b="b" t="t" l="l"/>
              <a:pathLst>
                <a:path h="866267" w="2731516">
                  <a:moveTo>
                    <a:pt x="0" y="0"/>
                  </a:moveTo>
                  <a:lnTo>
                    <a:pt x="2731516" y="0"/>
                  </a:lnTo>
                  <a:lnTo>
                    <a:pt x="2731516" y="866267"/>
                  </a:lnTo>
                  <a:lnTo>
                    <a:pt x="0" y="866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7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19" id="19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556419" y="0"/>
            <a:ext cx="3196800" cy="893569"/>
            <a:chOff x="0" y="0"/>
            <a:chExt cx="4262399" cy="11914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62374" cy="1191387"/>
            </a:xfrm>
            <a:custGeom>
              <a:avLst/>
              <a:gdLst/>
              <a:ahLst/>
              <a:cxnLst/>
              <a:rect r="r" b="b" t="t" l="l"/>
              <a:pathLst>
                <a:path h="1191387" w="4262374">
                  <a:moveTo>
                    <a:pt x="0" y="0"/>
                  </a:moveTo>
                  <a:lnTo>
                    <a:pt x="4262374" y="0"/>
                  </a:lnTo>
                  <a:lnTo>
                    <a:pt x="4262374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23" id="23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963070" y="203140"/>
            <a:ext cx="2214524" cy="731139"/>
            <a:chOff x="0" y="0"/>
            <a:chExt cx="2952699" cy="9748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52750" cy="974852"/>
            </a:xfrm>
            <a:custGeom>
              <a:avLst/>
              <a:gdLst/>
              <a:ahLst/>
              <a:cxnLst/>
              <a:rect r="r" b="b" t="t" l="l"/>
              <a:pathLst>
                <a:path h="974852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974852"/>
                  </a:lnTo>
                  <a:lnTo>
                    <a:pt x="0" y="9748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989950" y="243840"/>
            <a:ext cx="2048637" cy="649729"/>
            <a:chOff x="0" y="0"/>
            <a:chExt cx="2731516" cy="866305"/>
          </a:xfrm>
        </p:grpSpPr>
        <p:sp>
          <p:nvSpPr>
            <p:cNvPr name="Freeform 27" id="27" descr="logo.jpg"/>
            <p:cNvSpPr/>
            <p:nvPr/>
          </p:nvSpPr>
          <p:spPr>
            <a:xfrm flipH="false" flipV="false" rot="0">
              <a:off x="0" y="0"/>
              <a:ext cx="2731516" cy="866267"/>
            </a:xfrm>
            <a:custGeom>
              <a:avLst/>
              <a:gdLst/>
              <a:ahLst/>
              <a:cxnLst/>
              <a:rect r="r" b="b" t="t" l="l"/>
              <a:pathLst>
                <a:path h="866267" w="2731516">
                  <a:moveTo>
                    <a:pt x="0" y="0"/>
                  </a:moveTo>
                  <a:lnTo>
                    <a:pt x="2731516" y="0"/>
                  </a:lnTo>
                  <a:lnTo>
                    <a:pt x="2731516" y="866267"/>
                  </a:lnTo>
                  <a:lnTo>
                    <a:pt x="0" y="866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7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11853" y="3336020"/>
            <a:ext cx="2944667" cy="1261095"/>
            <a:chOff x="0" y="0"/>
            <a:chExt cx="3926223" cy="16814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926229" cy="1681459"/>
            </a:xfrm>
            <a:custGeom>
              <a:avLst/>
              <a:gdLst/>
              <a:ahLst/>
              <a:cxnLst/>
              <a:rect r="r" b="b" t="t" l="l"/>
              <a:pathLst>
                <a:path h="1681459" w="3926229">
                  <a:moveTo>
                    <a:pt x="0" y="0"/>
                  </a:moveTo>
                  <a:lnTo>
                    <a:pt x="3926229" y="0"/>
                  </a:lnTo>
                  <a:lnTo>
                    <a:pt x="3926229" y="1681459"/>
                  </a:lnTo>
                  <a:lnTo>
                    <a:pt x="0" y="16814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779" r="-118050" b="-3463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926223" cy="1710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Problem Statement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989950" y="6762626"/>
            <a:ext cx="2275580" cy="388992"/>
            <a:chOff x="0" y="0"/>
            <a:chExt cx="3034106" cy="5186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034112" cy="518657"/>
            </a:xfrm>
            <a:custGeom>
              <a:avLst/>
              <a:gdLst/>
              <a:ahLst/>
              <a:cxnLst/>
              <a:rect r="r" b="b" t="t" l="l"/>
              <a:pathLst>
                <a:path h="518657" w="3034112">
                  <a:moveTo>
                    <a:pt x="0" y="0"/>
                  </a:moveTo>
                  <a:lnTo>
                    <a:pt x="3034112" y="0"/>
                  </a:lnTo>
                  <a:lnTo>
                    <a:pt x="3034112" y="518657"/>
                  </a:lnTo>
                  <a:lnTo>
                    <a:pt x="0" y="51865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986" r="0" b="-6398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034106" cy="547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5"/>
                </a:lnSpc>
              </a:pPr>
              <a:r>
                <a:rPr lang="en-US" b="true" sz="127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035333" y="1627432"/>
            <a:ext cx="4467573" cy="4678270"/>
            <a:chOff x="0" y="0"/>
            <a:chExt cx="5956764" cy="6237693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5956764" cy="6237693"/>
              <a:chOff x="0" y="0"/>
              <a:chExt cx="1928838" cy="2019805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928838" cy="2019805"/>
              </a:xfrm>
              <a:custGeom>
                <a:avLst/>
                <a:gdLst/>
                <a:ahLst/>
                <a:cxnLst/>
                <a:rect r="r" b="b" t="t" l="l"/>
                <a:pathLst>
                  <a:path h="2019805" w="1928838">
                    <a:moveTo>
                      <a:pt x="0" y="0"/>
                    </a:moveTo>
                    <a:lnTo>
                      <a:pt x="1928838" y="0"/>
                    </a:lnTo>
                    <a:lnTo>
                      <a:pt x="1928838" y="2019805"/>
                    </a:lnTo>
                    <a:lnTo>
                      <a:pt x="0" y="2019805"/>
                    </a:lnTo>
                    <a:close/>
                  </a:path>
                </a:pathLst>
              </a:custGeom>
              <a:solidFill>
                <a:srgbClr val="FAF6E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28575"/>
                <a:ext cx="1928838" cy="2048380"/>
              </a:xfrm>
              <a:prstGeom prst="rect">
                <a:avLst/>
              </a:prstGeom>
            </p:spPr>
            <p:txBody>
              <a:bodyPr anchor="ctr" rtlCol="false" tIns="46628" lIns="46628" bIns="46628" rIns="46628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208899" y="307717"/>
              <a:ext cx="2483075" cy="2483075"/>
              <a:chOff x="0" y="0"/>
              <a:chExt cx="812800" cy="8128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413904" y="1130081"/>
              <a:ext cx="2100026" cy="8574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16"/>
                </a:lnSpc>
                <a:spcBef>
                  <a:spcPct val="0"/>
                </a:spcBef>
              </a:pPr>
              <a:r>
                <a:rPr lang="en-US" sz="1869" spc="74">
                  <a:solidFill>
                    <a:srgbClr val="000000">
                      <a:alpha val="74902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Low click history</a:t>
              </a:r>
            </a:p>
          </p:txBody>
        </p:sp>
        <p:grpSp>
          <p:nvGrpSpPr>
            <p:cNvPr name="Group 42" id="42"/>
            <p:cNvGrpSpPr/>
            <p:nvPr/>
          </p:nvGrpSpPr>
          <p:grpSpPr>
            <a:xfrm rot="0">
              <a:off x="208899" y="3342336"/>
              <a:ext cx="2483075" cy="2483075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413904" y="4303447"/>
              <a:ext cx="2100026" cy="4256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16"/>
                </a:lnSpc>
                <a:spcBef>
                  <a:spcPct val="0"/>
                </a:spcBef>
              </a:pPr>
              <a:r>
                <a:rPr lang="en-US" sz="1869" spc="74">
                  <a:solidFill>
                    <a:srgbClr val="000000">
                      <a:alpha val="74902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Low</a:t>
              </a:r>
              <a:r>
                <a:rPr lang="en-US" sz="1869" spc="74">
                  <a:solidFill>
                    <a:srgbClr val="000000">
                      <a:alpha val="74902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er rank</a:t>
              </a:r>
              <a:r>
                <a:rPr lang="en-US" sz="1869" spc="74" strike="noStrike" u="none">
                  <a:solidFill>
                    <a:srgbClr val="000000">
                      <a:alpha val="74902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ing</a:t>
              </a:r>
            </a:p>
          </p:txBody>
        </p:sp>
        <p:grpSp>
          <p:nvGrpSpPr>
            <p:cNvPr name="Group 46" id="46"/>
            <p:cNvGrpSpPr/>
            <p:nvPr/>
          </p:nvGrpSpPr>
          <p:grpSpPr>
            <a:xfrm rot="0">
              <a:off x="3236387" y="3342336"/>
              <a:ext cx="2483075" cy="2483075"/>
              <a:chOff x="0" y="0"/>
              <a:chExt cx="812800" cy="8128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3451651" y="4303447"/>
              <a:ext cx="2100026" cy="4256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16"/>
                </a:lnSpc>
                <a:spcBef>
                  <a:spcPct val="0"/>
                </a:spcBef>
              </a:pPr>
              <a:r>
                <a:rPr lang="en-US" sz="1869" spc="74">
                  <a:solidFill>
                    <a:srgbClr val="000000">
                      <a:alpha val="74902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Less v</a:t>
              </a:r>
              <a:r>
                <a:rPr lang="en-US" sz="1869" spc="74" strike="noStrike" u="none">
                  <a:solidFill>
                    <a:srgbClr val="000000">
                      <a:alpha val="74902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lang="en-US" sz="1869" spc="74" strike="noStrike" u="none">
                  <a:solidFill>
                    <a:srgbClr val="000000">
                      <a:alpha val="74902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sibil</a:t>
              </a:r>
              <a:r>
                <a:rPr lang="en-US" sz="1869" spc="74" strike="noStrike" u="none">
                  <a:solidFill>
                    <a:srgbClr val="000000">
                      <a:alpha val="74902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lang="en-US" sz="1869" spc="74" strike="noStrike" u="none">
                  <a:solidFill>
                    <a:srgbClr val="000000">
                      <a:alpha val="74902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ty</a:t>
              </a:r>
            </a:p>
          </p:txBody>
        </p:sp>
        <p:grpSp>
          <p:nvGrpSpPr>
            <p:cNvPr name="Group 50" id="50"/>
            <p:cNvGrpSpPr/>
            <p:nvPr/>
          </p:nvGrpSpPr>
          <p:grpSpPr>
            <a:xfrm rot="0">
              <a:off x="3236387" y="307717"/>
              <a:ext cx="2483075" cy="2483075"/>
              <a:chOff x="0" y="0"/>
              <a:chExt cx="812800" cy="8128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53" id="53"/>
            <p:cNvSpPr txBox="true"/>
            <p:nvPr/>
          </p:nvSpPr>
          <p:spPr>
            <a:xfrm rot="0">
              <a:off x="3421383" y="1304169"/>
              <a:ext cx="2100026" cy="4256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16"/>
                </a:lnSpc>
                <a:spcBef>
                  <a:spcPct val="0"/>
                </a:spcBef>
              </a:pPr>
              <a:r>
                <a:rPr lang="en-US" sz="1869" spc="74">
                  <a:solidFill>
                    <a:srgbClr val="000000">
                      <a:alpha val="74902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Fewer clicks</a:t>
              </a:r>
            </a:p>
          </p:txBody>
        </p:sp>
        <p:sp>
          <p:nvSpPr>
            <p:cNvPr name="AutoShape 54" id="54"/>
            <p:cNvSpPr/>
            <p:nvPr/>
          </p:nvSpPr>
          <p:spPr>
            <a:xfrm>
              <a:off x="1450437" y="2790792"/>
              <a:ext cx="0" cy="551544"/>
            </a:xfrm>
            <a:prstGeom prst="line">
              <a:avLst/>
            </a:prstGeom>
            <a:ln cap="flat" w="47479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55" id="55"/>
            <p:cNvSpPr/>
            <p:nvPr/>
          </p:nvSpPr>
          <p:spPr>
            <a:xfrm>
              <a:off x="2691974" y="4607613"/>
              <a:ext cx="551544" cy="0"/>
            </a:xfrm>
            <a:prstGeom prst="line">
              <a:avLst/>
            </a:prstGeom>
            <a:ln cap="flat" w="47479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56" id="56"/>
            <p:cNvSpPr/>
            <p:nvPr/>
          </p:nvSpPr>
          <p:spPr>
            <a:xfrm flipV="true">
              <a:off x="4501664" y="2790792"/>
              <a:ext cx="0" cy="551544"/>
            </a:xfrm>
            <a:prstGeom prst="line">
              <a:avLst/>
            </a:prstGeom>
            <a:ln cap="flat" w="47479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57" id="57"/>
            <p:cNvSpPr/>
            <p:nvPr/>
          </p:nvSpPr>
          <p:spPr>
            <a:xfrm flipH="true">
              <a:off x="2691974" y="1549255"/>
              <a:ext cx="551544" cy="0"/>
            </a:xfrm>
            <a:prstGeom prst="line">
              <a:avLst/>
            </a:prstGeom>
            <a:ln cap="flat" w="47479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219" cy="893569"/>
            <a:chOff x="0" y="0"/>
            <a:chExt cx="13004292" cy="1191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292" cy="1191387"/>
            </a:xfrm>
            <a:custGeom>
              <a:avLst/>
              <a:gdLst/>
              <a:ahLst/>
              <a:cxnLst/>
              <a:rect r="r" b="b" t="t" l="l"/>
              <a:pathLst>
                <a:path h="1191387" w="13004292">
                  <a:moveTo>
                    <a:pt x="0" y="0"/>
                  </a:moveTo>
                  <a:lnTo>
                    <a:pt x="13004292" y="0"/>
                  </a:lnTo>
                  <a:lnTo>
                    <a:pt x="13004292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0" y="7151618"/>
            <a:ext cx="9753219" cy="210817"/>
            <a:chOff x="0" y="0"/>
            <a:chExt cx="13004292" cy="2810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004292" cy="281051"/>
            </a:xfrm>
            <a:custGeom>
              <a:avLst/>
              <a:gdLst/>
              <a:ahLst/>
              <a:cxnLst/>
              <a:rect r="r" b="b" t="t" l="l"/>
              <a:pathLst>
                <a:path h="281051" w="13004292">
                  <a:moveTo>
                    <a:pt x="13004292" y="0"/>
                  </a:moveTo>
                  <a:lnTo>
                    <a:pt x="0" y="0"/>
                  </a:lnTo>
                  <a:lnTo>
                    <a:pt x="0" y="281051"/>
                  </a:lnTo>
                  <a:lnTo>
                    <a:pt x="13004292" y="281051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7" id="7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9" id="9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556419" y="0"/>
            <a:ext cx="3196800" cy="893569"/>
            <a:chOff x="0" y="0"/>
            <a:chExt cx="4262399" cy="11914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62374" cy="1191387"/>
            </a:xfrm>
            <a:custGeom>
              <a:avLst/>
              <a:gdLst/>
              <a:ahLst/>
              <a:cxnLst/>
              <a:rect r="r" b="b" t="t" l="l"/>
              <a:pathLst>
                <a:path h="1191387" w="4262374">
                  <a:moveTo>
                    <a:pt x="0" y="0"/>
                  </a:moveTo>
                  <a:lnTo>
                    <a:pt x="4262374" y="0"/>
                  </a:lnTo>
                  <a:lnTo>
                    <a:pt x="4262374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13" id="13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963070" y="203140"/>
            <a:ext cx="2214524" cy="731139"/>
            <a:chOff x="0" y="0"/>
            <a:chExt cx="2952699" cy="9748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52750" cy="974852"/>
            </a:xfrm>
            <a:custGeom>
              <a:avLst/>
              <a:gdLst/>
              <a:ahLst/>
              <a:cxnLst/>
              <a:rect r="r" b="b" t="t" l="l"/>
              <a:pathLst>
                <a:path h="974852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974852"/>
                  </a:lnTo>
                  <a:lnTo>
                    <a:pt x="0" y="9748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989950" y="243840"/>
            <a:ext cx="2048637" cy="649729"/>
            <a:chOff x="0" y="0"/>
            <a:chExt cx="2731516" cy="866305"/>
          </a:xfrm>
        </p:grpSpPr>
        <p:sp>
          <p:nvSpPr>
            <p:cNvPr name="Freeform 17" id="17" descr="logo.jpg"/>
            <p:cNvSpPr/>
            <p:nvPr/>
          </p:nvSpPr>
          <p:spPr>
            <a:xfrm flipH="false" flipV="false" rot="0">
              <a:off x="0" y="0"/>
              <a:ext cx="2731516" cy="866267"/>
            </a:xfrm>
            <a:custGeom>
              <a:avLst/>
              <a:gdLst/>
              <a:ahLst/>
              <a:cxnLst/>
              <a:rect r="r" b="b" t="t" l="l"/>
              <a:pathLst>
                <a:path h="866267" w="2731516">
                  <a:moveTo>
                    <a:pt x="0" y="0"/>
                  </a:moveTo>
                  <a:lnTo>
                    <a:pt x="2731516" y="0"/>
                  </a:lnTo>
                  <a:lnTo>
                    <a:pt x="2731516" y="866267"/>
                  </a:lnTo>
                  <a:lnTo>
                    <a:pt x="0" y="866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7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19" id="19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556419" y="0"/>
            <a:ext cx="3196800" cy="893569"/>
            <a:chOff x="0" y="0"/>
            <a:chExt cx="4262399" cy="11914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62374" cy="1191387"/>
            </a:xfrm>
            <a:custGeom>
              <a:avLst/>
              <a:gdLst/>
              <a:ahLst/>
              <a:cxnLst/>
              <a:rect r="r" b="b" t="t" l="l"/>
              <a:pathLst>
                <a:path h="1191387" w="4262374">
                  <a:moveTo>
                    <a:pt x="0" y="0"/>
                  </a:moveTo>
                  <a:lnTo>
                    <a:pt x="4262374" y="0"/>
                  </a:lnTo>
                  <a:lnTo>
                    <a:pt x="4262374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23" id="23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963070" y="203140"/>
            <a:ext cx="2214524" cy="731139"/>
            <a:chOff x="0" y="0"/>
            <a:chExt cx="2952699" cy="9748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52750" cy="974852"/>
            </a:xfrm>
            <a:custGeom>
              <a:avLst/>
              <a:gdLst/>
              <a:ahLst/>
              <a:cxnLst/>
              <a:rect r="r" b="b" t="t" l="l"/>
              <a:pathLst>
                <a:path h="974852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974852"/>
                  </a:lnTo>
                  <a:lnTo>
                    <a:pt x="0" y="9748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989950" y="243840"/>
            <a:ext cx="2048637" cy="649729"/>
            <a:chOff x="0" y="0"/>
            <a:chExt cx="2731516" cy="866305"/>
          </a:xfrm>
        </p:grpSpPr>
        <p:sp>
          <p:nvSpPr>
            <p:cNvPr name="Freeform 27" id="27" descr="logo.jpg"/>
            <p:cNvSpPr/>
            <p:nvPr/>
          </p:nvSpPr>
          <p:spPr>
            <a:xfrm flipH="false" flipV="false" rot="0">
              <a:off x="0" y="0"/>
              <a:ext cx="2731516" cy="866267"/>
            </a:xfrm>
            <a:custGeom>
              <a:avLst/>
              <a:gdLst/>
              <a:ahLst/>
              <a:cxnLst/>
              <a:rect r="r" b="b" t="t" l="l"/>
              <a:pathLst>
                <a:path h="866267" w="2731516">
                  <a:moveTo>
                    <a:pt x="0" y="0"/>
                  </a:moveTo>
                  <a:lnTo>
                    <a:pt x="2731516" y="0"/>
                  </a:lnTo>
                  <a:lnTo>
                    <a:pt x="2731516" y="866267"/>
                  </a:lnTo>
                  <a:lnTo>
                    <a:pt x="0" y="866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7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989950" y="6762626"/>
            <a:ext cx="2275580" cy="388991"/>
            <a:chOff x="0" y="0"/>
            <a:chExt cx="3034106" cy="51865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034112" cy="518656"/>
            </a:xfrm>
            <a:custGeom>
              <a:avLst/>
              <a:gdLst/>
              <a:ahLst/>
              <a:cxnLst/>
              <a:rect r="r" b="b" t="t" l="l"/>
              <a:pathLst>
                <a:path h="518656" w="3034112">
                  <a:moveTo>
                    <a:pt x="0" y="0"/>
                  </a:moveTo>
                  <a:lnTo>
                    <a:pt x="3034112" y="0"/>
                  </a:lnTo>
                  <a:lnTo>
                    <a:pt x="3034112" y="518656"/>
                  </a:lnTo>
                  <a:lnTo>
                    <a:pt x="0" y="51865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986" r="0" b="-6398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034106" cy="54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5"/>
                </a:lnSpc>
              </a:pPr>
              <a:r>
                <a:rPr lang="en-US" b="true" sz="127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890520" y="1331185"/>
            <a:ext cx="6148067" cy="5533805"/>
            <a:chOff x="0" y="0"/>
            <a:chExt cx="2098597" cy="188892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98597" cy="1888923"/>
            </a:xfrm>
            <a:custGeom>
              <a:avLst/>
              <a:gdLst/>
              <a:ahLst/>
              <a:cxnLst/>
              <a:rect r="r" b="b" t="t" l="l"/>
              <a:pathLst>
                <a:path h="1888923" w="2098597">
                  <a:moveTo>
                    <a:pt x="0" y="0"/>
                  </a:moveTo>
                  <a:lnTo>
                    <a:pt x="2098597" y="0"/>
                  </a:lnTo>
                  <a:lnTo>
                    <a:pt x="2098597" y="1888923"/>
                  </a:lnTo>
                  <a:lnTo>
                    <a:pt x="0" y="1888923"/>
                  </a:lnTo>
                  <a:close/>
                </a:path>
              </a:pathLst>
            </a:custGeom>
            <a:solidFill>
              <a:srgbClr val="FAF6E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098597" cy="1917498"/>
            </a:xfrm>
            <a:prstGeom prst="rect">
              <a:avLst/>
            </a:prstGeom>
          </p:spPr>
          <p:txBody>
            <a:bodyPr anchor="ctr" rtlCol="false" tIns="55120" lIns="55120" bIns="55120" rIns="5512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3820437" y="1643197"/>
            <a:ext cx="260082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31" b="true">
                <a:solidFill>
                  <a:srgbClr val="000000"/>
                </a:solidFill>
                <a:latin typeface="Literata Bold"/>
                <a:ea typeface="Literata Bold"/>
                <a:cs typeface="Literata Bold"/>
                <a:sym typeface="Literata Bold"/>
              </a:rPr>
              <a:t>A</a:t>
            </a:r>
            <a:r>
              <a:rPr lang="en-US" b="true" sz="1599" spc="-31">
                <a:solidFill>
                  <a:srgbClr val="000000"/>
                </a:solidFill>
                <a:latin typeface="Literata Bold"/>
                <a:ea typeface="Literata Bold"/>
                <a:cs typeface="Literata Bold"/>
                <a:sym typeface="Literata Bold"/>
              </a:rPr>
              <a:t>ttention Allocation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820437" y="1905135"/>
            <a:ext cx="5201643" cy="814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User attention on SERPs is shaped by query type (navigational vs. non-navigational) and whether ads are responsive or incidental to the search intent.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820437" y="2847656"/>
            <a:ext cx="260082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31" b="true">
                <a:solidFill>
                  <a:srgbClr val="000000"/>
                </a:solidFill>
                <a:latin typeface="Literata Bold"/>
                <a:ea typeface="Literata Bold"/>
                <a:cs typeface="Literata Bold"/>
                <a:sym typeface="Literata Bold"/>
              </a:rPr>
              <a:t>Tr</a:t>
            </a:r>
            <a:r>
              <a:rPr lang="en-US" b="true" sz="1599" spc="-31">
                <a:solidFill>
                  <a:srgbClr val="000000"/>
                </a:solidFill>
                <a:latin typeface="Literata Bold"/>
                <a:ea typeface="Literata Bold"/>
                <a:cs typeface="Literata Bold"/>
                <a:sym typeface="Literata Bold"/>
              </a:rPr>
              <a:t>ust Formation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820437" y="3114356"/>
            <a:ext cx="5201643" cy="1090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Trust in sp</a:t>
            </a:r>
            <a:r>
              <a:rPr lang="en-US" sz="1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onsored links develops through two routes — cognitive trust (driven by relevance and SE reputation) and emotional trust (influenced by prior brand familiarity and ad avoidance tendency).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820437" y="4376736"/>
            <a:ext cx="260082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31" b="true">
                <a:solidFill>
                  <a:srgbClr val="000000"/>
                </a:solidFill>
                <a:latin typeface="Literata Bold"/>
                <a:ea typeface="Literata Bold"/>
                <a:cs typeface="Literata Bold"/>
                <a:sym typeface="Literata Bold"/>
              </a:rPr>
              <a:t>Releva</a:t>
            </a:r>
            <a:r>
              <a:rPr lang="en-US" b="true" sz="1599" spc="-31">
                <a:solidFill>
                  <a:srgbClr val="000000"/>
                </a:solidFill>
                <a:latin typeface="Literata Bold"/>
                <a:ea typeface="Literata Bold"/>
                <a:cs typeface="Literata Bold"/>
                <a:sym typeface="Literata Bold"/>
              </a:rPr>
              <a:t>nce vs. Clickability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820437" y="4654377"/>
            <a:ext cx="5201643" cy="814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Hig</a:t>
            </a:r>
            <a:r>
              <a:rPr lang="en-US" sz="1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 CTR does not guarantee relevance. Relevance-based ranking independently improves both user experience and revenue outcomes.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820437" y="5573857"/>
            <a:ext cx="260082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31" b="true">
                <a:solidFill>
                  <a:srgbClr val="000000"/>
                </a:solidFill>
                <a:latin typeface="Literata Bold"/>
                <a:ea typeface="Literata Bold"/>
                <a:cs typeface="Literata Bold"/>
                <a:sym typeface="Literata Bold"/>
              </a:rPr>
              <a:t>Platform Ecosy</a:t>
            </a:r>
            <a:r>
              <a:rPr lang="en-US" b="true" sz="1599" spc="-31">
                <a:solidFill>
                  <a:srgbClr val="000000"/>
                </a:solidFill>
                <a:latin typeface="Literata Bold"/>
                <a:ea typeface="Literata Bold"/>
                <a:cs typeface="Literata Bold"/>
                <a:sym typeface="Literata Bold"/>
              </a:rPr>
              <a:t>stem Effect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820437" y="5876562"/>
            <a:ext cx="5201643" cy="814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Cross-p</a:t>
            </a:r>
            <a:r>
              <a:rPr lang="en-US" sz="1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latform advertising drives branded search interest, which indirectly strengthens organic ranking authority, blurring the line between paid and merit-based visibility.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316483" y="1562235"/>
            <a:ext cx="43699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2500" spc="-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316483" y="2780981"/>
            <a:ext cx="43699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 spc="-4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316483" y="4310061"/>
            <a:ext cx="43699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 spc="-4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316483" y="5598998"/>
            <a:ext cx="43699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 spc="-4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08924" y="1856321"/>
            <a:ext cx="2123186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spc="-64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</a:t>
            </a:r>
            <a:r>
              <a:rPr lang="en-US" b="true" sz="3200" spc="-6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eptual Framework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219" cy="893569"/>
            <a:chOff x="0" y="0"/>
            <a:chExt cx="13004292" cy="1191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292" cy="1191387"/>
            </a:xfrm>
            <a:custGeom>
              <a:avLst/>
              <a:gdLst/>
              <a:ahLst/>
              <a:cxnLst/>
              <a:rect r="r" b="b" t="t" l="l"/>
              <a:pathLst>
                <a:path h="1191387" w="13004292">
                  <a:moveTo>
                    <a:pt x="0" y="0"/>
                  </a:moveTo>
                  <a:lnTo>
                    <a:pt x="13004292" y="0"/>
                  </a:lnTo>
                  <a:lnTo>
                    <a:pt x="13004292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0" y="7151618"/>
            <a:ext cx="9753219" cy="210817"/>
            <a:chOff x="0" y="0"/>
            <a:chExt cx="13004292" cy="2810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004292" cy="281051"/>
            </a:xfrm>
            <a:custGeom>
              <a:avLst/>
              <a:gdLst/>
              <a:ahLst/>
              <a:cxnLst/>
              <a:rect r="r" b="b" t="t" l="l"/>
              <a:pathLst>
                <a:path h="281051" w="13004292">
                  <a:moveTo>
                    <a:pt x="13004292" y="0"/>
                  </a:moveTo>
                  <a:lnTo>
                    <a:pt x="0" y="0"/>
                  </a:lnTo>
                  <a:lnTo>
                    <a:pt x="0" y="281051"/>
                  </a:lnTo>
                  <a:lnTo>
                    <a:pt x="13004292" y="281051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7" id="7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9" id="9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556419" y="0"/>
            <a:ext cx="3196800" cy="893569"/>
            <a:chOff x="0" y="0"/>
            <a:chExt cx="4262399" cy="11914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62374" cy="1191387"/>
            </a:xfrm>
            <a:custGeom>
              <a:avLst/>
              <a:gdLst/>
              <a:ahLst/>
              <a:cxnLst/>
              <a:rect r="r" b="b" t="t" l="l"/>
              <a:pathLst>
                <a:path h="1191387" w="4262374">
                  <a:moveTo>
                    <a:pt x="0" y="0"/>
                  </a:moveTo>
                  <a:lnTo>
                    <a:pt x="4262374" y="0"/>
                  </a:lnTo>
                  <a:lnTo>
                    <a:pt x="4262374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13" id="13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963070" y="203140"/>
            <a:ext cx="2214524" cy="731139"/>
            <a:chOff x="0" y="0"/>
            <a:chExt cx="2952699" cy="9748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52750" cy="974852"/>
            </a:xfrm>
            <a:custGeom>
              <a:avLst/>
              <a:gdLst/>
              <a:ahLst/>
              <a:cxnLst/>
              <a:rect r="r" b="b" t="t" l="l"/>
              <a:pathLst>
                <a:path h="974852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974852"/>
                  </a:lnTo>
                  <a:lnTo>
                    <a:pt x="0" y="9748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989950" y="243840"/>
            <a:ext cx="2048637" cy="649729"/>
            <a:chOff x="0" y="0"/>
            <a:chExt cx="2731516" cy="866305"/>
          </a:xfrm>
        </p:grpSpPr>
        <p:sp>
          <p:nvSpPr>
            <p:cNvPr name="Freeform 17" id="17" descr="logo.jpg"/>
            <p:cNvSpPr/>
            <p:nvPr/>
          </p:nvSpPr>
          <p:spPr>
            <a:xfrm flipH="false" flipV="false" rot="0">
              <a:off x="0" y="0"/>
              <a:ext cx="2731516" cy="866267"/>
            </a:xfrm>
            <a:custGeom>
              <a:avLst/>
              <a:gdLst/>
              <a:ahLst/>
              <a:cxnLst/>
              <a:rect r="r" b="b" t="t" l="l"/>
              <a:pathLst>
                <a:path h="866267" w="2731516">
                  <a:moveTo>
                    <a:pt x="0" y="0"/>
                  </a:moveTo>
                  <a:lnTo>
                    <a:pt x="2731516" y="0"/>
                  </a:lnTo>
                  <a:lnTo>
                    <a:pt x="2731516" y="866267"/>
                  </a:lnTo>
                  <a:lnTo>
                    <a:pt x="0" y="866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7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19" id="19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556419" y="0"/>
            <a:ext cx="3196800" cy="893569"/>
            <a:chOff x="0" y="0"/>
            <a:chExt cx="4262399" cy="11914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62374" cy="1191387"/>
            </a:xfrm>
            <a:custGeom>
              <a:avLst/>
              <a:gdLst/>
              <a:ahLst/>
              <a:cxnLst/>
              <a:rect r="r" b="b" t="t" l="l"/>
              <a:pathLst>
                <a:path h="1191387" w="4262374">
                  <a:moveTo>
                    <a:pt x="0" y="0"/>
                  </a:moveTo>
                  <a:lnTo>
                    <a:pt x="4262374" y="0"/>
                  </a:lnTo>
                  <a:lnTo>
                    <a:pt x="4262374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23" id="23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963070" y="203140"/>
            <a:ext cx="2214524" cy="731139"/>
            <a:chOff x="0" y="0"/>
            <a:chExt cx="2952699" cy="9748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52750" cy="974852"/>
            </a:xfrm>
            <a:custGeom>
              <a:avLst/>
              <a:gdLst/>
              <a:ahLst/>
              <a:cxnLst/>
              <a:rect r="r" b="b" t="t" l="l"/>
              <a:pathLst>
                <a:path h="974852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974852"/>
                  </a:lnTo>
                  <a:lnTo>
                    <a:pt x="0" y="9748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989950" y="243840"/>
            <a:ext cx="2048637" cy="649729"/>
            <a:chOff x="0" y="0"/>
            <a:chExt cx="2731516" cy="866305"/>
          </a:xfrm>
        </p:grpSpPr>
        <p:sp>
          <p:nvSpPr>
            <p:cNvPr name="Freeform 27" id="27" descr="logo.jpg"/>
            <p:cNvSpPr/>
            <p:nvPr/>
          </p:nvSpPr>
          <p:spPr>
            <a:xfrm flipH="false" flipV="false" rot="0">
              <a:off x="0" y="0"/>
              <a:ext cx="2731516" cy="866267"/>
            </a:xfrm>
            <a:custGeom>
              <a:avLst/>
              <a:gdLst/>
              <a:ahLst/>
              <a:cxnLst/>
              <a:rect r="r" b="b" t="t" l="l"/>
              <a:pathLst>
                <a:path h="866267" w="2731516">
                  <a:moveTo>
                    <a:pt x="0" y="0"/>
                  </a:moveTo>
                  <a:lnTo>
                    <a:pt x="2731516" y="0"/>
                  </a:lnTo>
                  <a:lnTo>
                    <a:pt x="2731516" y="866267"/>
                  </a:lnTo>
                  <a:lnTo>
                    <a:pt x="0" y="866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7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989950" y="6762626"/>
            <a:ext cx="2275580" cy="388992"/>
            <a:chOff x="0" y="0"/>
            <a:chExt cx="3034106" cy="5186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034112" cy="518657"/>
            </a:xfrm>
            <a:custGeom>
              <a:avLst/>
              <a:gdLst/>
              <a:ahLst/>
              <a:cxnLst/>
              <a:rect r="r" b="b" t="t" l="l"/>
              <a:pathLst>
                <a:path h="518657" w="3034112">
                  <a:moveTo>
                    <a:pt x="0" y="0"/>
                  </a:moveTo>
                  <a:lnTo>
                    <a:pt x="3034112" y="0"/>
                  </a:lnTo>
                  <a:lnTo>
                    <a:pt x="3034112" y="518657"/>
                  </a:lnTo>
                  <a:lnTo>
                    <a:pt x="0" y="51865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986" r="0" b="-6398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034106" cy="547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5"/>
                </a:lnSpc>
              </a:pPr>
              <a:r>
                <a:rPr lang="en-US" b="true" sz="127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253670" y="1703325"/>
            <a:ext cx="5441844" cy="4679246"/>
            <a:chOff x="0" y="0"/>
            <a:chExt cx="7255792" cy="6238995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7255792" cy="6238995"/>
              <a:chOff x="0" y="0"/>
              <a:chExt cx="2015498" cy="1733054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015498" cy="1733054"/>
              </a:xfrm>
              <a:custGeom>
                <a:avLst/>
                <a:gdLst/>
                <a:ahLst/>
                <a:cxnLst/>
                <a:rect r="r" b="b" t="t" l="l"/>
                <a:pathLst>
                  <a:path h="1733054" w="2015498">
                    <a:moveTo>
                      <a:pt x="0" y="0"/>
                    </a:moveTo>
                    <a:lnTo>
                      <a:pt x="2015498" y="0"/>
                    </a:lnTo>
                    <a:lnTo>
                      <a:pt x="2015498" y="1733054"/>
                    </a:lnTo>
                    <a:lnTo>
                      <a:pt x="0" y="1733054"/>
                    </a:lnTo>
                    <a:close/>
                  </a:path>
                </a:pathLst>
              </a:custGeom>
              <a:solidFill>
                <a:srgbClr val="FAF6E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28575"/>
                <a:ext cx="2015498" cy="17616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454163" y="939331"/>
              <a:ext cx="6347465" cy="4322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sz="2000" spc="-4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High click-th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oug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 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rat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 does 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ys i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ic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ate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high r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ele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nc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</a:p>
            <a:p>
              <a:pPr algn="l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el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ev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nt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advertisements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may receive very few clicks.</a:t>
              </a:r>
            </a:p>
            <a:p>
              <a:pPr algn="l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Sponsored links 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fl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ue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ce 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ser trust and 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ec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on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-mak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g.</a:t>
              </a:r>
            </a:p>
            <a:p>
              <a:pPr algn="l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Orga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sults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are ge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nera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lly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ewed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m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ore 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tru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tworthy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</a:p>
            <a:p>
              <a:pPr algn="l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oss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-pl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tfo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is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ili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 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mpr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ve orga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ic r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king per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rma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ce</a:t>
              </a:r>
              <a:r>
                <a:rPr lang="en-US" sz="2000" spc="-4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372032" y="3629025"/>
            <a:ext cx="2525519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Findings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219" cy="893569"/>
            <a:chOff x="0" y="0"/>
            <a:chExt cx="13004292" cy="1191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292" cy="1191387"/>
            </a:xfrm>
            <a:custGeom>
              <a:avLst/>
              <a:gdLst/>
              <a:ahLst/>
              <a:cxnLst/>
              <a:rect r="r" b="b" t="t" l="l"/>
              <a:pathLst>
                <a:path h="1191387" w="13004292">
                  <a:moveTo>
                    <a:pt x="0" y="0"/>
                  </a:moveTo>
                  <a:lnTo>
                    <a:pt x="13004292" y="0"/>
                  </a:lnTo>
                  <a:lnTo>
                    <a:pt x="13004292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0" y="7151618"/>
            <a:ext cx="9753219" cy="210817"/>
            <a:chOff x="0" y="0"/>
            <a:chExt cx="13004292" cy="2810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004292" cy="281051"/>
            </a:xfrm>
            <a:custGeom>
              <a:avLst/>
              <a:gdLst/>
              <a:ahLst/>
              <a:cxnLst/>
              <a:rect r="r" b="b" t="t" l="l"/>
              <a:pathLst>
                <a:path h="281051" w="13004292">
                  <a:moveTo>
                    <a:pt x="13004292" y="0"/>
                  </a:moveTo>
                  <a:lnTo>
                    <a:pt x="0" y="0"/>
                  </a:lnTo>
                  <a:lnTo>
                    <a:pt x="0" y="281051"/>
                  </a:lnTo>
                  <a:lnTo>
                    <a:pt x="13004292" y="281051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7" id="7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9" id="9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556419" y="0"/>
            <a:ext cx="3196800" cy="893569"/>
            <a:chOff x="0" y="0"/>
            <a:chExt cx="4262399" cy="11914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62374" cy="1191387"/>
            </a:xfrm>
            <a:custGeom>
              <a:avLst/>
              <a:gdLst/>
              <a:ahLst/>
              <a:cxnLst/>
              <a:rect r="r" b="b" t="t" l="l"/>
              <a:pathLst>
                <a:path h="1191387" w="4262374">
                  <a:moveTo>
                    <a:pt x="0" y="0"/>
                  </a:moveTo>
                  <a:lnTo>
                    <a:pt x="4262374" y="0"/>
                  </a:lnTo>
                  <a:lnTo>
                    <a:pt x="4262374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13" id="13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963070" y="203140"/>
            <a:ext cx="2214524" cy="731139"/>
            <a:chOff x="0" y="0"/>
            <a:chExt cx="2952699" cy="9748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52750" cy="974852"/>
            </a:xfrm>
            <a:custGeom>
              <a:avLst/>
              <a:gdLst/>
              <a:ahLst/>
              <a:cxnLst/>
              <a:rect r="r" b="b" t="t" l="l"/>
              <a:pathLst>
                <a:path h="974852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974852"/>
                  </a:lnTo>
                  <a:lnTo>
                    <a:pt x="0" y="9748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989950" y="243840"/>
            <a:ext cx="2048637" cy="649729"/>
            <a:chOff x="0" y="0"/>
            <a:chExt cx="2731516" cy="866305"/>
          </a:xfrm>
        </p:grpSpPr>
        <p:sp>
          <p:nvSpPr>
            <p:cNvPr name="Freeform 17" id="17" descr="logo.jpg"/>
            <p:cNvSpPr/>
            <p:nvPr/>
          </p:nvSpPr>
          <p:spPr>
            <a:xfrm flipH="false" flipV="false" rot="0">
              <a:off x="0" y="0"/>
              <a:ext cx="2731516" cy="866267"/>
            </a:xfrm>
            <a:custGeom>
              <a:avLst/>
              <a:gdLst/>
              <a:ahLst/>
              <a:cxnLst/>
              <a:rect r="r" b="b" t="t" l="l"/>
              <a:pathLst>
                <a:path h="866267" w="2731516">
                  <a:moveTo>
                    <a:pt x="0" y="0"/>
                  </a:moveTo>
                  <a:lnTo>
                    <a:pt x="2731516" y="0"/>
                  </a:lnTo>
                  <a:lnTo>
                    <a:pt x="2731516" y="866267"/>
                  </a:lnTo>
                  <a:lnTo>
                    <a:pt x="0" y="866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7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19" id="19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556419" y="0"/>
            <a:ext cx="3196800" cy="893569"/>
            <a:chOff x="0" y="0"/>
            <a:chExt cx="4262399" cy="11914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62374" cy="1191387"/>
            </a:xfrm>
            <a:custGeom>
              <a:avLst/>
              <a:gdLst/>
              <a:ahLst/>
              <a:cxnLst/>
              <a:rect r="r" b="b" t="t" l="l"/>
              <a:pathLst>
                <a:path h="1191387" w="4262374">
                  <a:moveTo>
                    <a:pt x="0" y="0"/>
                  </a:moveTo>
                  <a:lnTo>
                    <a:pt x="4262374" y="0"/>
                  </a:lnTo>
                  <a:lnTo>
                    <a:pt x="4262374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23" id="23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963070" y="203140"/>
            <a:ext cx="2214524" cy="731139"/>
            <a:chOff x="0" y="0"/>
            <a:chExt cx="2952699" cy="9748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52750" cy="974852"/>
            </a:xfrm>
            <a:custGeom>
              <a:avLst/>
              <a:gdLst/>
              <a:ahLst/>
              <a:cxnLst/>
              <a:rect r="r" b="b" t="t" l="l"/>
              <a:pathLst>
                <a:path h="974852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974852"/>
                  </a:lnTo>
                  <a:lnTo>
                    <a:pt x="0" y="9748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989950" y="243840"/>
            <a:ext cx="2048637" cy="649729"/>
            <a:chOff x="0" y="0"/>
            <a:chExt cx="2731516" cy="866305"/>
          </a:xfrm>
        </p:grpSpPr>
        <p:sp>
          <p:nvSpPr>
            <p:cNvPr name="Freeform 27" id="27" descr="logo.jpg"/>
            <p:cNvSpPr/>
            <p:nvPr/>
          </p:nvSpPr>
          <p:spPr>
            <a:xfrm flipH="false" flipV="false" rot="0">
              <a:off x="0" y="0"/>
              <a:ext cx="2731516" cy="866267"/>
            </a:xfrm>
            <a:custGeom>
              <a:avLst/>
              <a:gdLst/>
              <a:ahLst/>
              <a:cxnLst/>
              <a:rect r="r" b="b" t="t" l="l"/>
              <a:pathLst>
                <a:path h="866267" w="2731516">
                  <a:moveTo>
                    <a:pt x="0" y="0"/>
                  </a:moveTo>
                  <a:lnTo>
                    <a:pt x="2731516" y="0"/>
                  </a:lnTo>
                  <a:lnTo>
                    <a:pt x="2731516" y="866267"/>
                  </a:lnTo>
                  <a:lnTo>
                    <a:pt x="0" y="866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7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05700" y="1004247"/>
            <a:ext cx="3890196" cy="893568"/>
            <a:chOff x="0" y="0"/>
            <a:chExt cx="5186928" cy="119142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186933" cy="1191423"/>
            </a:xfrm>
            <a:custGeom>
              <a:avLst/>
              <a:gdLst/>
              <a:ahLst/>
              <a:cxnLst/>
              <a:rect r="r" b="b" t="t" l="l"/>
              <a:pathLst>
                <a:path h="1191423" w="5186933">
                  <a:moveTo>
                    <a:pt x="0" y="0"/>
                  </a:moveTo>
                  <a:lnTo>
                    <a:pt x="5186933" y="0"/>
                  </a:lnTo>
                  <a:lnTo>
                    <a:pt x="5186933" y="1191423"/>
                  </a:lnTo>
                  <a:lnTo>
                    <a:pt x="0" y="119142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0012" r="-65052" b="-9001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5186928" cy="121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Conclusion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989950" y="6769747"/>
            <a:ext cx="2275580" cy="388992"/>
            <a:chOff x="0" y="0"/>
            <a:chExt cx="3034106" cy="5186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034112" cy="518657"/>
            </a:xfrm>
            <a:custGeom>
              <a:avLst/>
              <a:gdLst/>
              <a:ahLst/>
              <a:cxnLst/>
              <a:rect r="r" b="b" t="t" l="l"/>
              <a:pathLst>
                <a:path h="518657" w="3034112">
                  <a:moveTo>
                    <a:pt x="0" y="0"/>
                  </a:moveTo>
                  <a:lnTo>
                    <a:pt x="3034112" y="0"/>
                  </a:lnTo>
                  <a:lnTo>
                    <a:pt x="3034112" y="518657"/>
                  </a:lnTo>
                  <a:lnTo>
                    <a:pt x="0" y="51865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986" r="0" b="-6398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034106" cy="547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5"/>
                </a:lnSpc>
              </a:pPr>
              <a:r>
                <a:rPr lang="en-US" sz="127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05700" y="2008493"/>
            <a:ext cx="3890196" cy="2194560"/>
            <a:chOff x="0" y="0"/>
            <a:chExt cx="1440813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40813" cy="812800"/>
            </a:xfrm>
            <a:custGeom>
              <a:avLst/>
              <a:gdLst/>
              <a:ahLst/>
              <a:cxnLst/>
              <a:rect r="r" b="b" t="t" l="l"/>
              <a:pathLst>
                <a:path h="812800" w="1440813">
                  <a:moveTo>
                    <a:pt x="0" y="0"/>
                  </a:moveTo>
                  <a:lnTo>
                    <a:pt x="1440813" y="0"/>
                  </a:lnTo>
                  <a:lnTo>
                    <a:pt x="144081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AF6E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44081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05700" y="4389120"/>
            <a:ext cx="3890196" cy="2194560"/>
            <a:chOff x="0" y="0"/>
            <a:chExt cx="1440813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40813" cy="812800"/>
            </a:xfrm>
            <a:custGeom>
              <a:avLst/>
              <a:gdLst/>
              <a:ahLst/>
              <a:cxnLst/>
              <a:rect r="r" b="b" t="t" l="l"/>
              <a:pathLst>
                <a:path h="812800" w="1440813">
                  <a:moveTo>
                    <a:pt x="0" y="0"/>
                  </a:moveTo>
                  <a:lnTo>
                    <a:pt x="1440813" y="0"/>
                  </a:lnTo>
                  <a:lnTo>
                    <a:pt x="144081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AF6E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144081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31520" y="4574528"/>
            <a:ext cx="3438555" cy="1752644"/>
            <a:chOff x="0" y="0"/>
            <a:chExt cx="4584740" cy="2336859"/>
          </a:xfrm>
        </p:grpSpPr>
        <p:sp>
          <p:nvSpPr>
            <p:cNvPr name="TextBox 41" id="41"/>
            <p:cNvSpPr txBox="true"/>
            <p:nvPr/>
          </p:nvSpPr>
          <p:spPr>
            <a:xfrm rot="0">
              <a:off x="0" y="-38100"/>
              <a:ext cx="4122444" cy="43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69"/>
                </a:lnSpc>
              </a:pPr>
              <a:r>
                <a:rPr lang="en-US" b="true" sz="1976" spc="-3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Trust</a:t>
              </a:r>
              <a:r>
                <a:rPr lang="en-US" b="true" sz="1976" spc="-3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Drives Behavior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0" y="605034"/>
              <a:ext cx="4584740" cy="1731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69"/>
                </a:lnSpc>
              </a:pPr>
              <a:r>
                <a:rPr lang="en-US" sz="1976" spc="-3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Cog</a:t>
              </a:r>
              <a:r>
                <a:rPr lang="en-US" sz="1976" spc="-3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nitive trust, built through contextual relevance, influences user decisions</a:t>
              </a:r>
              <a:r>
                <a:rPr lang="en-US" sz="1976" spc="-39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more strongly than emotional trust.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31520" y="2195085"/>
            <a:ext cx="3438555" cy="1750255"/>
            <a:chOff x="0" y="0"/>
            <a:chExt cx="4584740" cy="2333673"/>
          </a:xfrm>
        </p:grpSpPr>
        <p:sp>
          <p:nvSpPr>
            <p:cNvPr name="TextBox 44" id="44"/>
            <p:cNvSpPr txBox="true"/>
            <p:nvPr/>
          </p:nvSpPr>
          <p:spPr>
            <a:xfrm rot="0">
              <a:off x="0" y="-38100"/>
              <a:ext cx="4122444" cy="43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69"/>
                </a:lnSpc>
              </a:pPr>
              <a:r>
                <a:rPr lang="en-US" b="true" sz="1976" spc="-3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CTR ≠ Rele</a:t>
              </a:r>
              <a:r>
                <a:rPr lang="en-US" b="true" sz="1976" spc="-3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vance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0" y="601848"/>
              <a:ext cx="4584740" cy="1731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69"/>
                </a:lnSpc>
              </a:pPr>
              <a:r>
                <a:rPr lang="en-US" sz="1976" spc="-3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High c</a:t>
              </a:r>
              <a:r>
                <a:rPr lang="en-US" sz="1976" spc="-3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lick-through rate does not</a:t>
              </a:r>
              <a:r>
                <a:rPr lang="en-US" sz="1976" spc="-39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guarantee ad relevance; relevant ads are often buried by click-history bias.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826090" y="2008493"/>
            <a:ext cx="3890196" cy="2194560"/>
            <a:chOff x="0" y="0"/>
            <a:chExt cx="1440813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40813" cy="812800"/>
            </a:xfrm>
            <a:custGeom>
              <a:avLst/>
              <a:gdLst/>
              <a:ahLst/>
              <a:cxnLst/>
              <a:rect r="r" b="b" t="t" l="l"/>
              <a:pathLst>
                <a:path h="812800" w="1440813">
                  <a:moveTo>
                    <a:pt x="0" y="0"/>
                  </a:moveTo>
                  <a:lnTo>
                    <a:pt x="1440813" y="0"/>
                  </a:lnTo>
                  <a:lnTo>
                    <a:pt x="144081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AF6E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144081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040859" y="2195085"/>
            <a:ext cx="3460659" cy="1750255"/>
            <a:chOff x="0" y="0"/>
            <a:chExt cx="4614212" cy="2333673"/>
          </a:xfrm>
        </p:grpSpPr>
        <p:sp>
          <p:nvSpPr>
            <p:cNvPr name="TextBox 50" id="50"/>
            <p:cNvSpPr txBox="true"/>
            <p:nvPr/>
          </p:nvSpPr>
          <p:spPr>
            <a:xfrm rot="0">
              <a:off x="0" y="-38100"/>
              <a:ext cx="4122444" cy="43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69"/>
                </a:lnSpc>
              </a:pPr>
              <a:r>
                <a:rPr lang="en-US" b="true" sz="1976" spc="-3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Cross-Platform Bias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19775" y="601848"/>
              <a:ext cx="4594437" cy="1731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69"/>
                </a:lnSpc>
              </a:pPr>
              <a:r>
                <a:rPr lang="en-US" sz="1976" spc="-3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Cross-platform adv</a:t>
              </a:r>
              <a:r>
                <a:rPr lang="en-US" sz="1976" spc="-3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ertising inflates branded search, indirectly boosting organic rankings and undermining perceived impartiality</a:t>
              </a:r>
              <a:r>
                <a:rPr lang="en-US" sz="1976" spc="-39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4826090" y="4383700"/>
            <a:ext cx="3890196" cy="2194560"/>
            <a:chOff x="0" y="0"/>
            <a:chExt cx="1440813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440813" cy="812800"/>
            </a:xfrm>
            <a:custGeom>
              <a:avLst/>
              <a:gdLst/>
              <a:ahLst/>
              <a:cxnLst/>
              <a:rect r="r" b="b" t="t" l="l"/>
              <a:pathLst>
                <a:path h="812800" w="1440813">
                  <a:moveTo>
                    <a:pt x="0" y="0"/>
                  </a:moveTo>
                  <a:lnTo>
                    <a:pt x="1440813" y="0"/>
                  </a:lnTo>
                  <a:lnTo>
                    <a:pt x="144081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AF6E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144081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040859" y="4574528"/>
            <a:ext cx="3460659" cy="1752644"/>
            <a:chOff x="0" y="0"/>
            <a:chExt cx="4614212" cy="2336859"/>
          </a:xfrm>
        </p:grpSpPr>
        <p:sp>
          <p:nvSpPr>
            <p:cNvPr name="TextBox 56" id="56"/>
            <p:cNvSpPr txBox="true"/>
            <p:nvPr/>
          </p:nvSpPr>
          <p:spPr>
            <a:xfrm rot="0">
              <a:off x="0" y="-38100"/>
              <a:ext cx="4122444" cy="43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69"/>
                </a:lnSpc>
              </a:pPr>
              <a:r>
                <a:rPr lang="en-US" b="true" sz="1976" spc="-3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Transparency Is Essential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19775" y="605034"/>
              <a:ext cx="4594437" cy="1731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69"/>
                </a:lnSpc>
              </a:pPr>
              <a:r>
                <a:rPr lang="en-US" sz="1976" spc="-3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Ethical sponsored search requires relevance-sensitive ranking,</a:t>
              </a:r>
              <a:r>
                <a:rPr lang="en-US" sz="1976" spc="-3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clearer labeling,</a:t>
              </a:r>
              <a:r>
                <a:rPr lang="en-US" sz="1976" spc="-39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and interface designs that preserve user autonomy.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-3814691" y="6769747"/>
            <a:ext cx="3890196" cy="2194560"/>
            <a:chOff x="0" y="0"/>
            <a:chExt cx="1440813" cy="812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440813" cy="812800"/>
            </a:xfrm>
            <a:custGeom>
              <a:avLst/>
              <a:gdLst/>
              <a:ahLst/>
              <a:cxnLst/>
              <a:rect r="r" b="b" t="t" l="l"/>
              <a:pathLst>
                <a:path h="812800" w="1440813">
                  <a:moveTo>
                    <a:pt x="0" y="0"/>
                  </a:moveTo>
                  <a:lnTo>
                    <a:pt x="1440813" y="0"/>
                  </a:lnTo>
                  <a:lnTo>
                    <a:pt x="144081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144081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219" cy="893569"/>
            <a:chOff x="0" y="0"/>
            <a:chExt cx="13004292" cy="1191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292" cy="1191387"/>
            </a:xfrm>
            <a:custGeom>
              <a:avLst/>
              <a:gdLst/>
              <a:ahLst/>
              <a:cxnLst/>
              <a:rect r="r" b="b" t="t" l="l"/>
              <a:pathLst>
                <a:path h="1191387" w="13004292">
                  <a:moveTo>
                    <a:pt x="0" y="0"/>
                  </a:moveTo>
                  <a:lnTo>
                    <a:pt x="13004292" y="0"/>
                  </a:lnTo>
                  <a:lnTo>
                    <a:pt x="13004292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0" y="7151618"/>
            <a:ext cx="9753219" cy="210817"/>
            <a:chOff x="0" y="0"/>
            <a:chExt cx="13004292" cy="2810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004292" cy="281051"/>
            </a:xfrm>
            <a:custGeom>
              <a:avLst/>
              <a:gdLst/>
              <a:ahLst/>
              <a:cxnLst/>
              <a:rect r="r" b="b" t="t" l="l"/>
              <a:pathLst>
                <a:path h="281051" w="13004292">
                  <a:moveTo>
                    <a:pt x="13004292" y="0"/>
                  </a:moveTo>
                  <a:lnTo>
                    <a:pt x="0" y="0"/>
                  </a:lnTo>
                  <a:lnTo>
                    <a:pt x="0" y="281051"/>
                  </a:lnTo>
                  <a:lnTo>
                    <a:pt x="13004292" y="281051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7" id="7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9" id="9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556419" y="0"/>
            <a:ext cx="3196800" cy="893569"/>
            <a:chOff x="0" y="0"/>
            <a:chExt cx="4262399" cy="11914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62374" cy="1191387"/>
            </a:xfrm>
            <a:custGeom>
              <a:avLst/>
              <a:gdLst/>
              <a:ahLst/>
              <a:cxnLst/>
              <a:rect r="r" b="b" t="t" l="l"/>
              <a:pathLst>
                <a:path h="1191387" w="4262374">
                  <a:moveTo>
                    <a:pt x="0" y="0"/>
                  </a:moveTo>
                  <a:lnTo>
                    <a:pt x="4262374" y="0"/>
                  </a:lnTo>
                  <a:lnTo>
                    <a:pt x="4262374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13" id="13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963070" y="203140"/>
            <a:ext cx="2214524" cy="731139"/>
            <a:chOff x="0" y="0"/>
            <a:chExt cx="2952699" cy="9748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52750" cy="974852"/>
            </a:xfrm>
            <a:custGeom>
              <a:avLst/>
              <a:gdLst/>
              <a:ahLst/>
              <a:cxnLst/>
              <a:rect r="r" b="b" t="t" l="l"/>
              <a:pathLst>
                <a:path h="974852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974852"/>
                  </a:lnTo>
                  <a:lnTo>
                    <a:pt x="0" y="9748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989950" y="243840"/>
            <a:ext cx="2048637" cy="649729"/>
            <a:chOff x="0" y="0"/>
            <a:chExt cx="2731516" cy="866305"/>
          </a:xfrm>
        </p:grpSpPr>
        <p:sp>
          <p:nvSpPr>
            <p:cNvPr name="Freeform 17" id="17" descr="logo.jpg"/>
            <p:cNvSpPr/>
            <p:nvPr/>
          </p:nvSpPr>
          <p:spPr>
            <a:xfrm flipH="false" flipV="false" rot="0">
              <a:off x="0" y="0"/>
              <a:ext cx="2731516" cy="866267"/>
            </a:xfrm>
            <a:custGeom>
              <a:avLst/>
              <a:gdLst/>
              <a:ahLst/>
              <a:cxnLst/>
              <a:rect r="r" b="b" t="t" l="l"/>
              <a:pathLst>
                <a:path h="866267" w="2731516">
                  <a:moveTo>
                    <a:pt x="0" y="0"/>
                  </a:moveTo>
                  <a:lnTo>
                    <a:pt x="2731516" y="0"/>
                  </a:lnTo>
                  <a:lnTo>
                    <a:pt x="2731516" y="866267"/>
                  </a:lnTo>
                  <a:lnTo>
                    <a:pt x="0" y="866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7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19" id="19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556419" y="0"/>
            <a:ext cx="3196800" cy="893569"/>
            <a:chOff x="0" y="0"/>
            <a:chExt cx="4262399" cy="11914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62374" cy="1191387"/>
            </a:xfrm>
            <a:custGeom>
              <a:avLst/>
              <a:gdLst/>
              <a:ahLst/>
              <a:cxnLst/>
              <a:rect r="r" b="b" t="t" l="l"/>
              <a:pathLst>
                <a:path h="1191387" w="4262374">
                  <a:moveTo>
                    <a:pt x="0" y="0"/>
                  </a:moveTo>
                  <a:lnTo>
                    <a:pt x="4262374" y="0"/>
                  </a:lnTo>
                  <a:lnTo>
                    <a:pt x="4262374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23" id="23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963070" y="203140"/>
            <a:ext cx="2214524" cy="731139"/>
            <a:chOff x="0" y="0"/>
            <a:chExt cx="2952699" cy="9748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52750" cy="974852"/>
            </a:xfrm>
            <a:custGeom>
              <a:avLst/>
              <a:gdLst/>
              <a:ahLst/>
              <a:cxnLst/>
              <a:rect r="r" b="b" t="t" l="l"/>
              <a:pathLst>
                <a:path h="974852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974852"/>
                  </a:lnTo>
                  <a:lnTo>
                    <a:pt x="0" y="9748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989950" y="243840"/>
            <a:ext cx="2048637" cy="649729"/>
            <a:chOff x="0" y="0"/>
            <a:chExt cx="2731516" cy="866305"/>
          </a:xfrm>
        </p:grpSpPr>
        <p:sp>
          <p:nvSpPr>
            <p:cNvPr name="Freeform 27" id="27" descr="logo.jpg"/>
            <p:cNvSpPr/>
            <p:nvPr/>
          </p:nvSpPr>
          <p:spPr>
            <a:xfrm flipH="false" flipV="false" rot="0">
              <a:off x="0" y="0"/>
              <a:ext cx="2731516" cy="866267"/>
            </a:xfrm>
            <a:custGeom>
              <a:avLst/>
              <a:gdLst/>
              <a:ahLst/>
              <a:cxnLst/>
              <a:rect r="r" b="b" t="t" l="l"/>
              <a:pathLst>
                <a:path h="866267" w="2731516">
                  <a:moveTo>
                    <a:pt x="0" y="0"/>
                  </a:moveTo>
                  <a:lnTo>
                    <a:pt x="2731516" y="0"/>
                  </a:lnTo>
                  <a:lnTo>
                    <a:pt x="2731516" y="866267"/>
                  </a:lnTo>
                  <a:lnTo>
                    <a:pt x="0" y="866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7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989950" y="6780286"/>
            <a:ext cx="2275580" cy="388992"/>
            <a:chOff x="0" y="0"/>
            <a:chExt cx="3034106" cy="5186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034112" cy="518657"/>
            </a:xfrm>
            <a:custGeom>
              <a:avLst/>
              <a:gdLst/>
              <a:ahLst/>
              <a:cxnLst/>
              <a:rect r="r" b="b" t="t" l="l"/>
              <a:pathLst>
                <a:path h="518657" w="3034112">
                  <a:moveTo>
                    <a:pt x="0" y="0"/>
                  </a:moveTo>
                  <a:lnTo>
                    <a:pt x="3034112" y="0"/>
                  </a:lnTo>
                  <a:lnTo>
                    <a:pt x="3034112" y="518657"/>
                  </a:lnTo>
                  <a:lnTo>
                    <a:pt x="0" y="51865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986" r="0" b="-6398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034106" cy="547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5"/>
                </a:lnSpc>
              </a:pPr>
              <a:r>
                <a:rPr lang="en-US" b="true" sz="127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117462" y="1230483"/>
            <a:ext cx="5921125" cy="5549802"/>
            <a:chOff x="0" y="0"/>
            <a:chExt cx="2021132" cy="189438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21132" cy="1894384"/>
            </a:xfrm>
            <a:custGeom>
              <a:avLst/>
              <a:gdLst/>
              <a:ahLst/>
              <a:cxnLst/>
              <a:rect r="r" b="b" t="t" l="l"/>
              <a:pathLst>
                <a:path h="1894384" w="2021132">
                  <a:moveTo>
                    <a:pt x="0" y="0"/>
                  </a:moveTo>
                  <a:lnTo>
                    <a:pt x="2021132" y="0"/>
                  </a:lnTo>
                  <a:lnTo>
                    <a:pt x="2021132" y="1894384"/>
                  </a:lnTo>
                  <a:lnTo>
                    <a:pt x="0" y="1894384"/>
                  </a:lnTo>
                  <a:close/>
                </a:path>
              </a:pathLst>
            </a:custGeom>
            <a:solidFill>
              <a:srgbClr val="FAF6E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021132" cy="1932484"/>
            </a:xfrm>
            <a:prstGeom prst="rect">
              <a:avLst/>
            </a:prstGeom>
          </p:spPr>
          <p:txBody>
            <a:bodyPr anchor="ctr" rtlCol="false" tIns="55120" lIns="55120" bIns="55120" rIns="5512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3820437" y="1481901"/>
            <a:ext cx="293166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spc="-3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Long</a:t>
            </a:r>
            <a:r>
              <a:rPr lang="en-US" b="true" sz="1999" spc="-3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itudinal Trust Studies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836943" y="1739076"/>
            <a:ext cx="5201643" cy="68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rack how user trust in sponsored links evolves over time as familiarity with ad labeling conventions increases.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820437" y="2554974"/>
            <a:ext cx="284498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spc="-3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</a:t>
            </a:r>
            <a:r>
              <a:rPr lang="en-US" b="true" sz="1999" spc="-3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obile Search Interaction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836943" y="2812149"/>
            <a:ext cx="5030098" cy="1028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9"/>
              </a:lnSpc>
            </a:pPr>
            <a:r>
              <a:rPr lang="en-US" sz="1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Investigate how attention and trust patterns differ on m</a:t>
            </a:r>
            <a:r>
              <a:rPr lang="en-US" sz="1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obile devices due to limited screen space and altered result layouts.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820437" y="3912750"/>
            <a:ext cx="340953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spc="-3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AI-Generated Searc</a:t>
            </a:r>
            <a:r>
              <a:rPr lang="en-US" b="true" sz="1999" spc="-3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 Interfaces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820437" y="4169925"/>
            <a:ext cx="5201643" cy="1080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1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Examine how AI</a:t>
            </a:r>
            <a:r>
              <a:rPr lang="en-US" sz="1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-driven answer engines affect user attention, relevance perception, and sponsored content engagement.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820437" y="5350786"/>
            <a:ext cx="328700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spc="-3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Cross-Cultural Tru</a:t>
            </a:r>
            <a:r>
              <a:rPr lang="en-US" b="true" sz="1999" spc="-3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 Research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820437" y="5607961"/>
            <a:ext cx="5046605" cy="1028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9"/>
              </a:lnSpc>
            </a:pPr>
            <a:r>
              <a:rPr lang="en-US" sz="1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</a:t>
            </a:r>
            <a:r>
              <a:rPr lang="en-US" sz="1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cognitive and emotional trust formation across cultures with varying levels of exposure to digital advertising.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316483" y="1443801"/>
            <a:ext cx="43699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 spc="-4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316483" y="2516874"/>
            <a:ext cx="43699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 spc="-4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316483" y="3874650"/>
            <a:ext cx="43699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 spc="-4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316483" y="5312686"/>
            <a:ext cx="43699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 spc="-4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39415" y="1181863"/>
            <a:ext cx="258496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spc="-64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</a:t>
            </a:r>
            <a:r>
              <a:rPr lang="en-US" b="true" sz="3200" spc="-6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ture Scope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219" cy="893569"/>
            <a:chOff x="0" y="0"/>
            <a:chExt cx="13004292" cy="1191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292" cy="1191387"/>
            </a:xfrm>
            <a:custGeom>
              <a:avLst/>
              <a:gdLst/>
              <a:ahLst/>
              <a:cxnLst/>
              <a:rect r="r" b="b" t="t" l="l"/>
              <a:pathLst>
                <a:path h="1191387" w="13004292">
                  <a:moveTo>
                    <a:pt x="0" y="0"/>
                  </a:moveTo>
                  <a:lnTo>
                    <a:pt x="13004292" y="0"/>
                  </a:lnTo>
                  <a:lnTo>
                    <a:pt x="13004292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0" y="7151618"/>
            <a:ext cx="9753219" cy="210817"/>
            <a:chOff x="0" y="0"/>
            <a:chExt cx="13004292" cy="2810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004292" cy="281051"/>
            </a:xfrm>
            <a:custGeom>
              <a:avLst/>
              <a:gdLst/>
              <a:ahLst/>
              <a:cxnLst/>
              <a:rect r="r" b="b" t="t" l="l"/>
              <a:pathLst>
                <a:path h="281051" w="13004292">
                  <a:moveTo>
                    <a:pt x="13004292" y="0"/>
                  </a:moveTo>
                  <a:lnTo>
                    <a:pt x="0" y="0"/>
                  </a:lnTo>
                  <a:lnTo>
                    <a:pt x="0" y="281051"/>
                  </a:lnTo>
                  <a:lnTo>
                    <a:pt x="13004292" y="281051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7" id="7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9" id="9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556419" y="0"/>
            <a:ext cx="3196800" cy="893569"/>
            <a:chOff x="0" y="0"/>
            <a:chExt cx="4262399" cy="11914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62374" cy="1191387"/>
            </a:xfrm>
            <a:custGeom>
              <a:avLst/>
              <a:gdLst/>
              <a:ahLst/>
              <a:cxnLst/>
              <a:rect r="r" b="b" t="t" l="l"/>
              <a:pathLst>
                <a:path h="1191387" w="4262374">
                  <a:moveTo>
                    <a:pt x="0" y="0"/>
                  </a:moveTo>
                  <a:lnTo>
                    <a:pt x="4262374" y="0"/>
                  </a:lnTo>
                  <a:lnTo>
                    <a:pt x="4262374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13" id="13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963070" y="203140"/>
            <a:ext cx="2214524" cy="731139"/>
            <a:chOff x="0" y="0"/>
            <a:chExt cx="2952699" cy="9748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52750" cy="974852"/>
            </a:xfrm>
            <a:custGeom>
              <a:avLst/>
              <a:gdLst/>
              <a:ahLst/>
              <a:cxnLst/>
              <a:rect r="r" b="b" t="t" l="l"/>
              <a:pathLst>
                <a:path h="974852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974852"/>
                  </a:lnTo>
                  <a:lnTo>
                    <a:pt x="0" y="9748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989950" y="243840"/>
            <a:ext cx="2048637" cy="649729"/>
            <a:chOff x="0" y="0"/>
            <a:chExt cx="2731516" cy="866305"/>
          </a:xfrm>
        </p:grpSpPr>
        <p:sp>
          <p:nvSpPr>
            <p:cNvPr name="Freeform 17" id="17" descr="logo.jpg"/>
            <p:cNvSpPr/>
            <p:nvPr/>
          </p:nvSpPr>
          <p:spPr>
            <a:xfrm flipH="false" flipV="false" rot="0">
              <a:off x="0" y="0"/>
              <a:ext cx="2731516" cy="866267"/>
            </a:xfrm>
            <a:custGeom>
              <a:avLst/>
              <a:gdLst/>
              <a:ahLst/>
              <a:cxnLst/>
              <a:rect r="r" b="b" t="t" l="l"/>
              <a:pathLst>
                <a:path h="866267" w="2731516">
                  <a:moveTo>
                    <a:pt x="0" y="0"/>
                  </a:moveTo>
                  <a:lnTo>
                    <a:pt x="2731516" y="0"/>
                  </a:lnTo>
                  <a:lnTo>
                    <a:pt x="2731516" y="866267"/>
                  </a:lnTo>
                  <a:lnTo>
                    <a:pt x="0" y="866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7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19" id="19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556419" y="0"/>
            <a:ext cx="3196800" cy="893569"/>
            <a:chOff x="0" y="0"/>
            <a:chExt cx="4262399" cy="11914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62374" cy="1191387"/>
            </a:xfrm>
            <a:custGeom>
              <a:avLst/>
              <a:gdLst/>
              <a:ahLst/>
              <a:cxnLst/>
              <a:rect r="r" b="b" t="t" l="l"/>
              <a:pathLst>
                <a:path h="1191387" w="4262374">
                  <a:moveTo>
                    <a:pt x="0" y="0"/>
                  </a:moveTo>
                  <a:lnTo>
                    <a:pt x="4262374" y="0"/>
                  </a:lnTo>
                  <a:lnTo>
                    <a:pt x="4262374" y="1191387"/>
                  </a:lnTo>
                  <a:lnTo>
                    <a:pt x="0" y="1191387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989950" y="243840"/>
            <a:ext cx="2194179" cy="676989"/>
            <a:chOff x="0" y="0"/>
            <a:chExt cx="2925572" cy="902652"/>
          </a:xfrm>
        </p:grpSpPr>
        <p:sp>
          <p:nvSpPr>
            <p:cNvPr name="Freeform 23" id="23" descr="LOGO.gif"/>
            <p:cNvSpPr/>
            <p:nvPr/>
          </p:nvSpPr>
          <p:spPr>
            <a:xfrm flipH="false" flipV="false" rot="0">
              <a:off x="0" y="0"/>
              <a:ext cx="2925572" cy="902716"/>
            </a:xfrm>
            <a:custGeom>
              <a:avLst/>
              <a:gdLst/>
              <a:ahLst/>
              <a:cxnLst/>
              <a:rect r="r" b="b" t="t" l="l"/>
              <a:pathLst>
                <a:path h="902716" w="2925572">
                  <a:moveTo>
                    <a:pt x="0" y="0"/>
                  </a:moveTo>
                  <a:lnTo>
                    <a:pt x="2925572" y="0"/>
                  </a:lnTo>
                  <a:lnTo>
                    <a:pt x="2925572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041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963070" y="203140"/>
            <a:ext cx="2214524" cy="731139"/>
            <a:chOff x="0" y="0"/>
            <a:chExt cx="2952699" cy="9748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52750" cy="974852"/>
            </a:xfrm>
            <a:custGeom>
              <a:avLst/>
              <a:gdLst/>
              <a:ahLst/>
              <a:cxnLst/>
              <a:rect r="r" b="b" t="t" l="l"/>
              <a:pathLst>
                <a:path h="974852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974852"/>
                  </a:lnTo>
                  <a:lnTo>
                    <a:pt x="0" y="9748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989950" y="243840"/>
            <a:ext cx="2048637" cy="649729"/>
            <a:chOff x="0" y="0"/>
            <a:chExt cx="2731516" cy="866305"/>
          </a:xfrm>
        </p:grpSpPr>
        <p:sp>
          <p:nvSpPr>
            <p:cNvPr name="Freeform 27" id="27" descr="logo.jpg"/>
            <p:cNvSpPr/>
            <p:nvPr/>
          </p:nvSpPr>
          <p:spPr>
            <a:xfrm flipH="false" flipV="false" rot="0">
              <a:off x="0" y="0"/>
              <a:ext cx="2731516" cy="866267"/>
            </a:xfrm>
            <a:custGeom>
              <a:avLst/>
              <a:gdLst/>
              <a:ahLst/>
              <a:cxnLst/>
              <a:rect r="r" b="b" t="t" l="l"/>
              <a:pathLst>
                <a:path h="866267" w="2731516">
                  <a:moveTo>
                    <a:pt x="0" y="0"/>
                  </a:moveTo>
                  <a:lnTo>
                    <a:pt x="2731516" y="0"/>
                  </a:lnTo>
                  <a:lnTo>
                    <a:pt x="2731516" y="866267"/>
                  </a:lnTo>
                  <a:lnTo>
                    <a:pt x="0" y="866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7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84078" y="3009681"/>
            <a:ext cx="7152637" cy="1504845"/>
            <a:chOff x="0" y="0"/>
            <a:chExt cx="9536849" cy="20064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536852" cy="2006454"/>
            </a:xfrm>
            <a:custGeom>
              <a:avLst/>
              <a:gdLst/>
              <a:ahLst/>
              <a:cxnLst/>
              <a:rect r="r" b="b" t="t" l="l"/>
              <a:pathLst>
                <a:path h="2006454" w="9536852">
                  <a:moveTo>
                    <a:pt x="0" y="0"/>
                  </a:moveTo>
                  <a:lnTo>
                    <a:pt x="9536852" y="0"/>
                  </a:lnTo>
                  <a:lnTo>
                    <a:pt x="9536852" y="2006454"/>
                  </a:lnTo>
                  <a:lnTo>
                    <a:pt x="0" y="20064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2613" r="0" b="-4261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536849" cy="2044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911"/>
                </a:lnSpc>
              </a:pPr>
              <a:r>
                <a:rPr lang="en-US" sz="575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DAHINdHd_KI</dc:identifier>
  <dcterms:modified xsi:type="dcterms:W3CDTF">2011-08-01T06:04:30Z</dcterms:modified>
  <cp:revision>1</cp:revision>
  <dc:title>COOP2_External_PPT.pptx</dc:title>
</cp:coreProperties>
</file>